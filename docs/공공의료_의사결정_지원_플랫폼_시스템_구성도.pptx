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93" r:id="rId1"/>
    <p:sldMasterId id="2147483743" r:id="rId2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13"/>
    <p:sldId id="261" r:id="rId14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187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373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56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747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5933" algn="l" defTabSz="914373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120" algn="l" defTabSz="914373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307" algn="l" defTabSz="914373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494" algn="l" defTabSz="914373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Ⅰ. 사업 개요" id="{171284E0-EB66-42EB-AF5C-C29B93299A44}">
          <p14:sldIdLst>
            <p14:sldId id="3328"/>
            <p14:sldId id="3336"/>
            <p14:sldId id="3355"/>
            <p14:sldId id="3356"/>
          </p14:sldIdLst>
        </p14:section>
      </p14:sectionLst>
    </p:ext>
    <p:ext uri="{EFAFB233-063F-42B5-8137-9DF3F51BA10A}">
      <p15:sldGuideLst xmlns:p15="http://schemas.microsoft.com/office/powerpoint/2012/main">
        <p15:guide id="4" pos="3120" userDrawn="1">
          <p15:clr>
            <a:srgbClr val="A4A3A4"/>
          </p15:clr>
        </p15:guide>
        <p15:guide id="5" orient="horz" pos="21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43" userDrawn="1">
          <p15:clr>
            <a:srgbClr val="A4A3A4"/>
          </p15:clr>
        </p15:guide>
        <p15:guide id="3" orient="horz" pos="3131" userDrawn="1">
          <p15:clr>
            <a:srgbClr val="A4A3A4"/>
          </p15:clr>
        </p15:guide>
        <p15:guide id="4" pos="214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BA"/>
    <a:srgbClr val="F2F2F2"/>
    <a:srgbClr val="224F77"/>
    <a:srgbClr val="34B4F4"/>
    <a:srgbClr val="D9F2FF"/>
    <a:srgbClr val="EDEFF3"/>
    <a:srgbClr val="537695"/>
    <a:srgbClr val="0033CC"/>
    <a:srgbClr val="002060"/>
    <a:srgbClr val="0A2E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66" autoAdjust="0"/>
    <p:restoredTop sz="95208" autoAdjust="0"/>
  </p:normalViewPr>
  <p:slideViewPr>
    <p:cSldViewPr showGuides="1">
      <p:cViewPr varScale="1">
        <p:scale>
          <a:sx n="104" d="100"/>
          <a:sy n="104" d="100"/>
        </p:scale>
        <p:origin x="1710" y="96"/>
      </p:cViewPr>
      <p:guideLst>
        <p:guide pos="3120"/>
        <p:guide orient="horz" pos="21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5" d="100"/>
        <a:sy n="55" d="100"/>
      </p:scale>
      <p:origin x="0" y="0"/>
    </p:cViewPr>
  </p:sorterViewPr>
  <p:notesViewPr>
    <p:cSldViewPr showGuides="1">
      <p:cViewPr varScale="1">
        <p:scale>
          <a:sx n="76" d="100"/>
          <a:sy n="76" d="100"/>
        </p:scale>
        <p:origin x="4020" y="114"/>
      </p:cViewPr>
      <p:guideLst>
        <p:guide orient="horz" pos="3132"/>
        <p:guide pos="2143"/>
        <p:guide orient="horz" pos="3131"/>
        <p:guide pos="2145"/>
      </p:guideLst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50528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8" tIns="45918" rIns="91838" bIns="45918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Times New Roman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KoPub돋움체 Medium" panose="00000600000000000000" pitchFamily="2" charset="-127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672" y="3"/>
            <a:ext cx="2950528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8" tIns="45918" rIns="91838" bIns="4591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KoPub돋움체 Medium" panose="00000600000000000000" pitchFamily="2" charset="-127"/>
            </a:endParaRPr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442374"/>
            <a:ext cx="2950528" cy="496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8" tIns="45918" rIns="91838" bIns="45918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Times New Roman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KoPub돋움체 Medium" panose="00000600000000000000" pitchFamily="2" charset="-127"/>
            </a:endParaRPr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672" y="9442374"/>
            <a:ext cx="2950528" cy="496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8" tIns="45918" rIns="91838" bIns="4591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charset="0"/>
                <a:ea typeface="굴림" pitchFamily="50" charset="-127"/>
              </a:defRPr>
            </a:lvl1pPr>
          </a:lstStyle>
          <a:p>
            <a:pPr>
              <a:defRPr/>
            </a:pPr>
            <a:fld id="{BB0B9568-1B3B-47D3-B331-EC21F72C6011}" type="slidenum">
              <a:rPr lang="en-US" altLang="ko-KR">
                <a:ea typeface="KoPub돋움체 Medium" panose="00000600000000000000" pitchFamily="2" charset="-127"/>
              </a:rPr>
              <a:pPr>
                <a:defRPr/>
              </a:pPr>
              <a:t>‹#›</a:t>
            </a:fld>
            <a:endParaRPr lang="en-US" altLang="ko-KR" dirty="0"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47136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50528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8" tIns="45918" rIns="91838" bIns="45918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Times New Roman" charset="0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672" y="3"/>
            <a:ext cx="2950528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8" tIns="45918" rIns="91838" bIns="4591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charset="0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4375" y="747713"/>
            <a:ext cx="537845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7735" y="4721986"/>
            <a:ext cx="4991734" cy="4472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8" tIns="45918" rIns="91838" bIns="45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42374"/>
            <a:ext cx="2950528" cy="496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8" tIns="45918" rIns="91838" bIns="45918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Times New Roman" charset="0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672" y="9442374"/>
            <a:ext cx="2950528" cy="496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8" tIns="45918" rIns="91838" bIns="4591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charset="0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fld id="{5AF37A57-C67A-4ABA-BDE8-2C75EED35B8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411550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KoPub돋움체 Medium" panose="00000600000000000000" pitchFamily="2" charset="-127"/>
        <a:cs typeface="+mn-cs"/>
      </a:defRPr>
    </a:lvl1pPr>
    <a:lvl2pPr marL="457187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KoPub돋움체 Medium" panose="00000600000000000000" pitchFamily="2" charset="-127"/>
        <a:cs typeface="+mn-cs"/>
      </a:defRPr>
    </a:lvl2pPr>
    <a:lvl3pPr marL="91437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KoPub돋움체 Medium" panose="00000600000000000000" pitchFamily="2" charset="-127"/>
        <a:cs typeface="+mn-cs"/>
      </a:defRPr>
    </a:lvl3pPr>
    <a:lvl4pPr marL="137156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KoPub돋움체 Medium" panose="00000600000000000000" pitchFamily="2" charset="-127"/>
        <a:cs typeface="+mn-cs"/>
      </a:defRPr>
    </a:lvl4pPr>
    <a:lvl5pPr marL="1828747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KoPub돋움체 Medium" panose="00000600000000000000" pitchFamily="2" charset="-127"/>
        <a:cs typeface="+mn-cs"/>
      </a:defRPr>
    </a:lvl5pPr>
    <a:lvl6pPr marL="2285933" algn="l" defTabSz="914373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20" algn="l" defTabSz="914373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07" algn="l" defTabSz="914373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94" algn="l" defTabSz="914373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거버닝 O, 타이틀 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ine 28">
            <a:extLst>
              <a:ext uri="{FF2B5EF4-FFF2-40B4-BE49-F238E27FC236}">
                <a16:creationId xmlns:a16="http://schemas.microsoft.com/office/drawing/2014/main" id="{6ED41015-C47F-4E0A-9B76-C44F853E8ED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" y="622967"/>
            <a:ext cx="9632950" cy="0"/>
          </a:xfrm>
          <a:prstGeom prst="line">
            <a:avLst/>
          </a:prstGeom>
          <a:noFill/>
          <a:ln w="6350">
            <a:solidFill>
              <a:srgbClr val="224F77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sz="1492" dirty="0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20E964FB-5C04-4294-944F-07E22F8EE0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423" y="260900"/>
            <a:ext cx="6480720" cy="395792"/>
          </a:xfrm>
          <a:prstGeom prst="rect">
            <a:avLst/>
          </a:prstGeom>
        </p:spPr>
        <p:txBody>
          <a:bodyPr lIns="0" rIns="0" anchor="ctr" anchorCtr="0"/>
          <a:lstStyle>
            <a:lvl1pPr algn="l" eaLnBrk="1" latinLnBrk="0" hangingPunct="1">
              <a:defRPr sz="1600">
                <a:solidFill>
                  <a:srgbClr val="333333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 err="1"/>
              <a:t>KoPub</a:t>
            </a:r>
            <a:r>
              <a:rPr lang="en-US" altLang="ko-KR" dirty="0"/>
              <a:t> </a:t>
            </a:r>
            <a:r>
              <a:rPr lang="ko-KR" altLang="en-US" dirty="0"/>
              <a:t>돋움체 </a:t>
            </a:r>
            <a:r>
              <a:rPr lang="en-US" altLang="ko-KR" dirty="0"/>
              <a:t>Bold 16</a:t>
            </a:r>
            <a:endParaRPr lang="ko-KR" altLang="en-US" dirty="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EECE5980-5589-4F44-840A-FF670B375B3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83423" y="656692"/>
            <a:ext cx="9339153" cy="648104"/>
          </a:xfrm>
          <a:prstGeom prst="rect">
            <a:avLst/>
          </a:prstGeom>
          <a:noFill/>
        </p:spPr>
        <p:txBody>
          <a:bodyPr lIns="0" rIns="0" anchor="t" anchorCtr="0"/>
          <a:lstStyle>
            <a:lvl1pPr marL="0" indent="0" algn="just" eaLnBrk="1" latinLnBrk="0" hangingPunct="1">
              <a:buFont typeface="Tahoma" pitchFamily="34" charset="0"/>
              <a:buNone/>
              <a:defRPr sz="1400" b="0">
                <a:solidFill>
                  <a:schemeClr val="tx1"/>
                </a:solidFill>
                <a:latin typeface="+mj-ea"/>
                <a:ea typeface="+mj-ea"/>
              </a:defRPr>
            </a:lvl1pPr>
            <a:lvl2pPr>
              <a:buClr>
                <a:srgbClr val="0070C0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B0F0"/>
              </a:buClr>
              <a:defRPr b="0">
                <a:solidFill>
                  <a:schemeClr val="tx1"/>
                </a:solidFill>
              </a:defRPr>
            </a:lvl3pPr>
            <a:lvl4pPr>
              <a:buClr>
                <a:srgbClr val="0070C0"/>
              </a:buCl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ko-KR" dirty="0" err="1"/>
              <a:t>KoPub</a:t>
            </a:r>
            <a:r>
              <a:rPr lang="en-US" altLang="ko-KR" dirty="0"/>
              <a:t> </a:t>
            </a:r>
            <a:r>
              <a:rPr lang="ko-KR" altLang="en-US" dirty="0"/>
              <a:t>돋움체 </a:t>
            </a:r>
            <a:r>
              <a:rPr lang="en-US" altLang="ko-KR" dirty="0"/>
              <a:t>Bold 14</a:t>
            </a:r>
            <a:endParaRPr lang="ko-KR" altLang="en-US" dirty="0"/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64E2FB14-C5BC-4E64-AD13-4567B151F2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56214" y="404664"/>
            <a:ext cx="2166362" cy="244360"/>
          </a:xfrm>
          <a:prstGeom prst="rect">
            <a:avLst/>
          </a:prstGeom>
        </p:spPr>
        <p:txBody>
          <a:bodyPr rIns="0" anchor="b" anchorCtr="0"/>
          <a:lstStyle>
            <a:lvl1pPr marL="0" indent="0" algn="r">
              <a:spcBef>
                <a:spcPts val="0"/>
              </a:spcBef>
              <a:buFontTx/>
              <a:buNone/>
              <a:defRPr sz="900">
                <a:solidFill>
                  <a:srgbClr val="224F77"/>
                </a:solidFill>
                <a:latin typeface="+mj-ea"/>
                <a:ea typeface="+mj-ea"/>
              </a:defRPr>
            </a:lvl1pPr>
            <a:lvl2pPr marL="447663" indent="0">
              <a:buFontTx/>
              <a:buNone/>
              <a:defRPr sz="1175">
                <a:latin typeface="+mn-ea"/>
                <a:ea typeface="+mn-ea"/>
              </a:defRPr>
            </a:lvl2pPr>
            <a:lvl3pPr marL="895327" indent="0">
              <a:buFontTx/>
              <a:buNone/>
              <a:defRPr sz="1175">
                <a:latin typeface="+mn-ea"/>
                <a:ea typeface="+mn-ea"/>
              </a:defRPr>
            </a:lvl3pPr>
            <a:lvl4pPr marL="1342990" indent="0">
              <a:buFontTx/>
              <a:buNone/>
              <a:defRPr sz="1175">
                <a:latin typeface="+mn-ea"/>
                <a:ea typeface="+mn-ea"/>
              </a:defRPr>
            </a:lvl4pPr>
            <a:lvl5pPr marL="1790653" indent="0">
              <a:buFontTx/>
              <a:buNone/>
              <a:defRPr sz="1175">
                <a:latin typeface="+mn-ea"/>
                <a:ea typeface="+mn-ea"/>
              </a:defRPr>
            </a:lvl5pPr>
          </a:lstStyle>
          <a:p>
            <a:pPr lvl="0"/>
            <a:r>
              <a:rPr lang="en-US" altLang="ko-KR" dirty="0" err="1"/>
              <a:t>KoPub</a:t>
            </a:r>
            <a:r>
              <a:rPr lang="en-US" altLang="ko-KR" dirty="0"/>
              <a:t> </a:t>
            </a:r>
            <a:r>
              <a:rPr lang="ko-KR" altLang="en-US" dirty="0"/>
              <a:t>돋움체 </a:t>
            </a:r>
            <a:r>
              <a:rPr lang="en-US" altLang="ko-KR" dirty="0"/>
              <a:t>Bold 9</a:t>
            </a:r>
            <a:endParaRPr lang="ko-KR" altLang="en-US" dirty="0"/>
          </a:p>
        </p:txBody>
      </p:sp>
      <p:sp>
        <p:nvSpPr>
          <p:cNvPr id="25" name="사각형: 둥근 위쪽 모서리 24">
            <a:extLst>
              <a:ext uri="{FF2B5EF4-FFF2-40B4-BE49-F238E27FC236}">
                <a16:creationId xmlns:a16="http://schemas.microsoft.com/office/drawing/2014/main" id="{0DD8C00B-1B41-4E0C-8921-988BF11D6059}"/>
              </a:ext>
            </a:extLst>
          </p:cNvPr>
          <p:cNvSpPr/>
          <p:nvPr userDrawn="1"/>
        </p:nvSpPr>
        <p:spPr>
          <a:xfrm>
            <a:off x="2486726" y="1314493"/>
            <a:ext cx="4932548" cy="288000"/>
          </a:xfrm>
          <a:prstGeom prst="round2SameRect">
            <a:avLst/>
          </a:prstGeom>
          <a:solidFill>
            <a:srgbClr val="224F77"/>
          </a:solidFill>
          <a:ln>
            <a:noFill/>
          </a:ln>
          <a:effectLst>
            <a:outerShdw blurRad="127000" sx="93000" sy="93000" algn="ctr" rotWithShape="0">
              <a:srgbClr val="7EB2E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7453"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sz="1114" b="1" dirty="0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581D7BE-29FF-46A3-8823-42F490D8681F}"/>
              </a:ext>
            </a:extLst>
          </p:cNvPr>
          <p:cNvCxnSpPr>
            <a:cxnSpLocks/>
          </p:cNvCxnSpPr>
          <p:nvPr userDrawn="1"/>
        </p:nvCxnSpPr>
        <p:spPr>
          <a:xfrm>
            <a:off x="271462" y="1592796"/>
            <a:ext cx="9361488" cy="0"/>
          </a:xfrm>
          <a:prstGeom prst="line">
            <a:avLst/>
          </a:prstGeom>
          <a:noFill/>
          <a:ln w="6350">
            <a:gradFill flip="none" rotWithShape="1">
              <a:gsLst>
                <a:gs pos="0">
                  <a:srgbClr val="006DBA">
                    <a:alpha val="10000"/>
                  </a:srgbClr>
                </a:gs>
                <a:gs pos="35000">
                  <a:srgbClr val="006DBA"/>
                </a:gs>
                <a:gs pos="67500">
                  <a:srgbClr val="006DBA"/>
                </a:gs>
                <a:gs pos="100000">
                  <a:srgbClr val="006DBA">
                    <a:alpha val="10000"/>
                  </a:srgbClr>
                </a:gs>
              </a:gsLst>
              <a:path path="rect">
                <a:fillToRect l="50000" t="50000" r="50000" b="50000"/>
              </a:path>
              <a:tileRect/>
            </a:gradFill>
            <a:miter lim="800000"/>
            <a:headEnd/>
            <a:tailEnd/>
          </a:ln>
          <a:effectLst>
            <a:outerShdw blurRad="12700" dist="35921" dir="600000" sx="95000" sy="95000" algn="ctr" rotWithShape="0">
              <a:schemeClr val="bg1">
                <a:lumMod val="6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텍스트 개체 틀 5">
            <a:extLst>
              <a:ext uri="{FF2B5EF4-FFF2-40B4-BE49-F238E27FC236}">
                <a16:creationId xmlns:a16="http://schemas.microsoft.com/office/drawing/2014/main" id="{50741D95-FD2D-4AC4-A3D5-EDC43EC06E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86726" y="1314494"/>
            <a:ext cx="4932548" cy="287999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 err="1"/>
              <a:t>KoPub</a:t>
            </a:r>
            <a:r>
              <a:rPr lang="en-US" altLang="ko-KR" dirty="0"/>
              <a:t> </a:t>
            </a:r>
            <a:r>
              <a:rPr lang="ko-KR" altLang="en-US" dirty="0"/>
              <a:t>돋움체 </a:t>
            </a:r>
            <a:r>
              <a:rPr lang="en-US" altLang="ko-KR" dirty="0"/>
              <a:t>Bold 12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BFB459-BB5E-4FDF-AFE7-26B431A50C5F}"/>
              </a:ext>
            </a:extLst>
          </p:cNvPr>
          <p:cNvSpPr/>
          <p:nvPr userDrawn="1"/>
        </p:nvSpPr>
        <p:spPr bwMode="auto">
          <a:xfrm>
            <a:off x="7454558" y="196026"/>
            <a:ext cx="2168018" cy="13663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tIns="32659" rIns="0" bIns="32659" rtlCol="0" anchor="ctr"/>
          <a:lstStyle/>
          <a:p>
            <a:pPr marL="0" marR="0" lvl="0" indent="0" algn="r" defTabSz="829544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0" dirty="0">
                <a:solidFill>
                  <a:srgbClr val="224F77"/>
                </a:solidFill>
                <a:latin typeface="+mj-ea"/>
                <a:ea typeface="+mj-ea"/>
              </a:rPr>
              <a:t>공공의료 </a:t>
            </a:r>
            <a:r>
              <a:rPr lang="en-US" altLang="ko-KR" sz="900" b="0" dirty="0">
                <a:solidFill>
                  <a:srgbClr val="224F77"/>
                </a:solidFill>
                <a:latin typeface="+mj-ea"/>
                <a:ea typeface="+mj-ea"/>
              </a:rPr>
              <a:t>AI </a:t>
            </a:r>
            <a:r>
              <a:rPr lang="ko-KR" altLang="en-US" sz="900" b="0" dirty="0">
                <a:solidFill>
                  <a:srgbClr val="224F77"/>
                </a:solidFill>
                <a:latin typeface="+mj-ea"/>
                <a:ea typeface="+mj-ea"/>
              </a:rPr>
              <a:t>정보화전략계획</a:t>
            </a:r>
            <a:r>
              <a:rPr lang="en-US" altLang="ko-KR" sz="900" b="0" dirty="0">
                <a:solidFill>
                  <a:srgbClr val="224F77"/>
                </a:solidFill>
                <a:latin typeface="+mj-ea"/>
                <a:ea typeface="+mj-ea"/>
              </a:rPr>
              <a:t>(ISP) </a:t>
            </a:r>
            <a:r>
              <a:rPr lang="ko-KR" altLang="en-US" sz="900" b="0" dirty="0">
                <a:solidFill>
                  <a:srgbClr val="224F77"/>
                </a:solidFill>
                <a:latin typeface="+mj-ea"/>
                <a:ea typeface="+mj-ea"/>
              </a:rPr>
              <a:t>수립</a:t>
            </a:r>
            <a:endParaRPr lang="en-US" altLang="ko-KR" sz="900" b="0" dirty="0">
              <a:solidFill>
                <a:srgbClr val="224F77"/>
              </a:solidFill>
              <a:latin typeface="+mj-ea"/>
              <a:ea typeface="+mj-ea"/>
            </a:endParaRPr>
          </a:p>
          <a:p>
            <a:pPr marL="0" marR="0" lvl="0" indent="0" algn="r" defTabSz="829544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srgbClr val="224F77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Ⅲ</a:t>
            </a:r>
            <a:r>
              <a:rPr lang="en-US" altLang="ko-KR" sz="900" dirty="0">
                <a:solidFill>
                  <a:srgbClr val="224F77"/>
                </a:solidFill>
                <a:latin typeface="+mj-ea"/>
                <a:ea typeface="+mj-ea"/>
              </a:rPr>
              <a:t>. </a:t>
            </a:r>
            <a:r>
              <a:rPr lang="ko-KR" altLang="en-US" sz="900" dirty="0">
                <a:solidFill>
                  <a:srgbClr val="224F77"/>
                </a:solidFill>
                <a:latin typeface="+mj-ea"/>
                <a:ea typeface="+mj-ea"/>
              </a:rPr>
              <a:t>현황분석</a:t>
            </a:r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E287364E-DB19-4B75-AC2D-89FFBFA498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" y="44624"/>
            <a:ext cx="2881338" cy="24436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spcBef>
                <a:spcPts val="0"/>
              </a:spcBef>
              <a:buFontTx/>
              <a:buNone/>
              <a:defRPr sz="1100">
                <a:solidFill>
                  <a:srgbClr val="224F77"/>
                </a:solidFill>
                <a:latin typeface="+mj-ea"/>
                <a:ea typeface="+mj-ea"/>
              </a:defRPr>
            </a:lvl1pPr>
            <a:lvl2pPr marL="447663" indent="0">
              <a:buFontTx/>
              <a:buNone/>
              <a:defRPr sz="1175">
                <a:latin typeface="+mn-ea"/>
                <a:ea typeface="+mn-ea"/>
              </a:defRPr>
            </a:lvl2pPr>
            <a:lvl3pPr marL="895327" indent="0">
              <a:buFontTx/>
              <a:buNone/>
              <a:defRPr sz="1175">
                <a:latin typeface="+mn-ea"/>
                <a:ea typeface="+mn-ea"/>
              </a:defRPr>
            </a:lvl3pPr>
            <a:lvl4pPr marL="1342990" indent="0">
              <a:buFontTx/>
              <a:buNone/>
              <a:defRPr sz="1175">
                <a:latin typeface="+mn-ea"/>
                <a:ea typeface="+mn-ea"/>
              </a:defRPr>
            </a:lvl4pPr>
            <a:lvl5pPr marL="1790653" indent="0">
              <a:buFontTx/>
              <a:buNone/>
              <a:defRPr sz="1175">
                <a:latin typeface="+mn-ea"/>
                <a:ea typeface="+mn-ea"/>
              </a:defRPr>
            </a:lvl5pPr>
          </a:lstStyle>
          <a:p>
            <a:pPr lvl="0"/>
            <a:r>
              <a:rPr lang="en-US" altLang="ko-KR" dirty="0" err="1"/>
              <a:t>KoPub</a:t>
            </a:r>
            <a:r>
              <a:rPr lang="en-US" altLang="ko-KR" dirty="0"/>
              <a:t> </a:t>
            </a:r>
            <a:r>
              <a:rPr lang="ko-KR" altLang="en-US" dirty="0"/>
              <a:t>돋움체 </a:t>
            </a:r>
            <a:r>
              <a:rPr lang="en-US" altLang="ko-KR" dirty="0"/>
              <a:t>Bold 11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5252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pos="172">
          <p15:clr>
            <a:srgbClr val="FBAE40"/>
          </p15:clr>
        </p15:guide>
        <p15:guide id="3" pos="6062">
          <p15:clr>
            <a:srgbClr val="FBAE40"/>
          </p15:clr>
        </p15:guide>
        <p15:guide id="4" orient="horz" pos="4012">
          <p15:clr>
            <a:srgbClr val="FBAE40"/>
          </p15:clr>
        </p15:guide>
        <p15:guide id="5" orient="horz" pos="1960">
          <p15:clr>
            <a:srgbClr val="FBAE40"/>
          </p15:clr>
        </p15:guide>
        <p15:guide id="6" orient="horz" pos="414">
          <p15:clr>
            <a:srgbClr val="FBAE40"/>
          </p15:clr>
        </p15:guide>
        <p15:guide id="7" orient="horz" pos="1003">
          <p15:clr>
            <a:srgbClr val="FBAE40"/>
          </p15:clr>
        </p15:guide>
        <p15:guide id="12" orient="horz" pos="822">
          <p15:clr>
            <a:srgbClr val="FBAE40"/>
          </p15:clr>
        </p15:guide>
        <p15:guide id="13" orient="horz" pos="2351">
          <p15:clr>
            <a:srgbClr val="FBAE40"/>
          </p15:clr>
        </p15:guide>
        <p15:guide id="14" orient="horz" pos="109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거버닝 O, 타이틀 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ine 28">
            <a:extLst>
              <a:ext uri="{FF2B5EF4-FFF2-40B4-BE49-F238E27FC236}">
                <a16:creationId xmlns:a16="http://schemas.microsoft.com/office/drawing/2014/main" id="{6ED41015-C47F-4E0A-9B76-C44F853E8ED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" y="622967"/>
            <a:ext cx="9632950" cy="0"/>
          </a:xfrm>
          <a:prstGeom prst="line">
            <a:avLst/>
          </a:prstGeom>
          <a:noFill/>
          <a:ln w="6350">
            <a:solidFill>
              <a:srgbClr val="224F77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sz="1492" dirty="0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EECE5980-5589-4F44-840A-FF670B375B3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83423" y="656692"/>
            <a:ext cx="9339153" cy="648233"/>
          </a:xfrm>
          <a:prstGeom prst="rect">
            <a:avLst/>
          </a:prstGeom>
          <a:noFill/>
        </p:spPr>
        <p:txBody>
          <a:bodyPr lIns="0" rIns="0" anchor="t" anchorCtr="0"/>
          <a:lstStyle>
            <a:lvl1pPr marL="0" indent="0" algn="just" eaLnBrk="1" latinLnBrk="0" hangingPunct="1">
              <a:buFont typeface="Tahoma" pitchFamily="34" charset="0"/>
              <a:buNone/>
              <a:defRPr sz="1400" b="0">
                <a:solidFill>
                  <a:schemeClr val="tx1"/>
                </a:solidFill>
                <a:latin typeface="+mj-ea"/>
                <a:ea typeface="+mj-ea"/>
              </a:defRPr>
            </a:lvl1pPr>
            <a:lvl2pPr>
              <a:buClr>
                <a:srgbClr val="0070C0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B0F0"/>
              </a:buClr>
              <a:defRPr b="0">
                <a:solidFill>
                  <a:schemeClr val="tx1"/>
                </a:solidFill>
              </a:defRPr>
            </a:lvl3pPr>
            <a:lvl4pPr>
              <a:buClr>
                <a:srgbClr val="0070C0"/>
              </a:buCl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ko-KR" dirty="0" err="1"/>
              <a:t>KoPub</a:t>
            </a:r>
            <a:r>
              <a:rPr lang="en-US" altLang="ko-KR" dirty="0"/>
              <a:t> </a:t>
            </a:r>
            <a:r>
              <a:rPr lang="ko-KR" altLang="en-US" dirty="0"/>
              <a:t>돋움체 </a:t>
            </a:r>
            <a:r>
              <a:rPr lang="en-US" altLang="ko-KR" dirty="0"/>
              <a:t>Bold 14</a:t>
            </a:r>
            <a:endParaRPr lang="ko-KR" altLang="en-US" dirty="0"/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9C54045-FC49-4799-A601-D992FFD88C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56214" y="404664"/>
            <a:ext cx="2166362" cy="244360"/>
          </a:xfrm>
          <a:prstGeom prst="rect">
            <a:avLst/>
          </a:prstGeom>
        </p:spPr>
        <p:txBody>
          <a:bodyPr rIns="0" anchor="b" anchorCtr="0"/>
          <a:lstStyle>
            <a:lvl1pPr marL="0" indent="0" algn="r">
              <a:spcBef>
                <a:spcPts val="0"/>
              </a:spcBef>
              <a:buFontTx/>
              <a:buNone/>
              <a:defRPr sz="900">
                <a:solidFill>
                  <a:srgbClr val="224F77"/>
                </a:solidFill>
                <a:latin typeface="+mj-ea"/>
                <a:ea typeface="+mj-ea"/>
              </a:defRPr>
            </a:lvl1pPr>
            <a:lvl2pPr marL="447663" indent="0">
              <a:buFontTx/>
              <a:buNone/>
              <a:defRPr sz="1175">
                <a:latin typeface="+mn-ea"/>
                <a:ea typeface="+mn-ea"/>
              </a:defRPr>
            </a:lvl2pPr>
            <a:lvl3pPr marL="895327" indent="0">
              <a:buFontTx/>
              <a:buNone/>
              <a:defRPr sz="1175">
                <a:latin typeface="+mn-ea"/>
                <a:ea typeface="+mn-ea"/>
              </a:defRPr>
            </a:lvl3pPr>
            <a:lvl4pPr marL="1342990" indent="0">
              <a:buFontTx/>
              <a:buNone/>
              <a:defRPr sz="1175">
                <a:latin typeface="+mn-ea"/>
                <a:ea typeface="+mn-ea"/>
              </a:defRPr>
            </a:lvl4pPr>
            <a:lvl5pPr marL="1790653" indent="0">
              <a:buFontTx/>
              <a:buNone/>
              <a:defRPr sz="1175">
                <a:latin typeface="+mn-ea"/>
                <a:ea typeface="+mn-ea"/>
              </a:defRPr>
            </a:lvl5pPr>
          </a:lstStyle>
          <a:p>
            <a:pPr lvl="0"/>
            <a:r>
              <a:rPr lang="en-US" altLang="ko-KR" dirty="0" err="1"/>
              <a:t>KoPub</a:t>
            </a:r>
            <a:r>
              <a:rPr lang="en-US" altLang="ko-KR" dirty="0"/>
              <a:t> </a:t>
            </a:r>
            <a:r>
              <a:rPr lang="ko-KR" altLang="en-US" dirty="0"/>
              <a:t>돋움체 </a:t>
            </a:r>
            <a:r>
              <a:rPr lang="en-US" altLang="ko-KR" dirty="0"/>
              <a:t>Bold 9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3863A6-6A60-4A70-85E3-359026F40405}"/>
              </a:ext>
            </a:extLst>
          </p:cNvPr>
          <p:cNvSpPr/>
          <p:nvPr userDrawn="1"/>
        </p:nvSpPr>
        <p:spPr bwMode="auto">
          <a:xfrm>
            <a:off x="7454558" y="196026"/>
            <a:ext cx="2168018" cy="13663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tIns="32659" rIns="0" bIns="32659" rtlCol="0" anchor="ctr"/>
          <a:lstStyle/>
          <a:p>
            <a:pPr marL="0" marR="0" lvl="0" indent="0" algn="r" defTabSz="829544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0" dirty="0">
                <a:solidFill>
                  <a:srgbClr val="224F77"/>
                </a:solidFill>
                <a:latin typeface="+mj-ea"/>
                <a:ea typeface="+mj-ea"/>
              </a:rPr>
              <a:t>공공의료 </a:t>
            </a:r>
            <a:r>
              <a:rPr lang="en-US" altLang="ko-KR" sz="900" b="0" dirty="0">
                <a:solidFill>
                  <a:srgbClr val="224F77"/>
                </a:solidFill>
                <a:latin typeface="+mj-ea"/>
                <a:ea typeface="+mj-ea"/>
              </a:rPr>
              <a:t>AI </a:t>
            </a:r>
            <a:r>
              <a:rPr lang="ko-KR" altLang="en-US" sz="900" b="0" dirty="0">
                <a:solidFill>
                  <a:srgbClr val="224F77"/>
                </a:solidFill>
                <a:latin typeface="+mj-ea"/>
                <a:ea typeface="+mj-ea"/>
              </a:rPr>
              <a:t>정보화전략계획</a:t>
            </a:r>
            <a:r>
              <a:rPr lang="en-US" altLang="ko-KR" sz="900" b="0" dirty="0">
                <a:solidFill>
                  <a:srgbClr val="224F77"/>
                </a:solidFill>
                <a:latin typeface="+mj-ea"/>
                <a:ea typeface="+mj-ea"/>
              </a:rPr>
              <a:t>(ISP) </a:t>
            </a:r>
            <a:r>
              <a:rPr lang="ko-KR" altLang="en-US" sz="900" b="0" dirty="0">
                <a:solidFill>
                  <a:srgbClr val="224F77"/>
                </a:solidFill>
                <a:latin typeface="+mj-ea"/>
                <a:ea typeface="+mj-ea"/>
              </a:rPr>
              <a:t>수립</a:t>
            </a:r>
            <a:endParaRPr lang="en-US" altLang="ko-KR" sz="900" b="0" dirty="0">
              <a:solidFill>
                <a:srgbClr val="224F77"/>
              </a:solidFill>
              <a:latin typeface="+mj-ea"/>
              <a:ea typeface="+mj-ea"/>
            </a:endParaRPr>
          </a:p>
          <a:p>
            <a:pPr marL="0" marR="0" lvl="0" indent="0" algn="r" defTabSz="829544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srgbClr val="224F77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Ⅲ</a:t>
            </a:r>
            <a:r>
              <a:rPr lang="en-US" altLang="ko-KR" sz="900" dirty="0">
                <a:solidFill>
                  <a:srgbClr val="224F77"/>
                </a:solidFill>
                <a:latin typeface="+mj-ea"/>
                <a:ea typeface="+mj-ea"/>
              </a:rPr>
              <a:t>. </a:t>
            </a:r>
            <a:r>
              <a:rPr lang="ko-KR" altLang="en-US" sz="900" dirty="0">
                <a:solidFill>
                  <a:srgbClr val="224F77"/>
                </a:solidFill>
                <a:latin typeface="+mj-ea"/>
                <a:ea typeface="+mj-ea"/>
              </a:rPr>
              <a:t>현황분석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B1AC082B-3C1B-40BE-A7EA-ECBAF3E557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423" y="260900"/>
            <a:ext cx="6480720" cy="395792"/>
          </a:xfrm>
          <a:prstGeom prst="rect">
            <a:avLst/>
          </a:prstGeom>
        </p:spPr>
        <p:txBody>
          <a:bodyPr lIns="0" rIns="0" anchor="ctr" anchorCtr="0"/>
          <a:lstStyle>
            <a:lvl1pPr algn="l" eaLnBrk="1" latinLnBrk="0" hangingPunct="1">
              <a:defRPr sz="1600">
                <a:solidFill>
                  <a:srgbClr val="333333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 err="1"/>
              <a:t>KoPub</a:t>
            </a:r>
            <a:r>
              <a:rPr lang="en-US" altLang="ko-KR" dirty="0"/>
              <a:t> </a:t>
            </a:r>
            <a:r>
              <a:rPr lang="ko-KR" altLang="en-US" dirty="0"/>
              <a:t>돋움체 </a:t>
            </a:r>
            <a:r>
              <a:rPr lang="en-US" altLang="ko-KR" dirty="0"/>
              <a:t>Bold 16</a:t>
            </a:r>
            <a:endParaRPr lang="ko-KR" altLang="en-US" dirty="0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6398442F-85A6-4155-92F6-A05A561C91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" y="44624"/>
            <a:ext cx="3097362" cy="24436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spcBef>
                <a:spcPts val="0"/>
              </a:spcBef>
              <a:buFontTx/>
              <a:buNone/>
              <a:defRPr sz="1100">
                <a:solidFill>
                  <a:srgbClr val="224F77"/>
                </a:solidFill>
                <a:latin typeface="+mj-ea"/>
                <a:ea typeface="+mj-ea"/>
              </a:defRPr>
            </a:lvl1pPr>
            <a:lvl2pPr marL="447663" indent="0">
              <a:buFontTx/>
              <a:buNone/>
              <a:defRPr sz="1175">
                <a:latin typeface="+mn-ea"/>
                <a:ea typeface="+mn-ea"/>
              </a:defRPr>
            </a:lvl2pPr>
            <a:lvl3pPr marL="895327" indent="0">
              <a:buFontTx/>
              <a:buNone/>
              <a:defRPr sz="1175">
                <a:latin typeface="+mn-ea"/>
                <a:ea typeface="+mn-ea"/>
              </a:defRPr>
            </a:lvl3pPr>
            <a:lvl4pPr marL="1342990" indent="0">
              <a:buFontTx/>
              <a:buNone/>
              <a:defRPr sz="1175">
                <a:latin typeface="+mn-ea"/>
                <a:ea typeface="+mn-ea"/>
              </a:defRPr>
            </a:lvl4pPr>
            <a:lvl5pPr marL="1790653" indent="0">
              <a:buFontTx/>
              <a:buNone/>
              <a:defRPr sz="1175">
                <a:latin typeface="+mn-ea"/>
                <a:ea typeface="+mn-ea"/>
              </a:defRPr>
            </a:lvl5pPr>
          </a:lstStyle>
          <a:p>
            <a:pPr lvl="0"/>
            <a:r>
              <a:rPr lang="en-US" altLang="ko-KR" dirty="0" err="1"/>
              <a:t>KoPub</a:t>
            </a:r>
            <a:r>
              <a:rPr lang="en-US" altLang="ko-KR" dirty="0"/>
              <a:t> </a:t>
            </a:r>
            <a:r>
              <a:rPr lang="ko-KR" altLang="en-US" dirty="0"/>
              <a:t>돋움체 </a:t>
            </a:r>
            <a:r>
              <a:rPr lang="en-US" altLang="ko-KR" dirty="0"/>
              <a:t>Bold 11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8480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pos="172">
          <p15:clr>
            <a:srgbClr val="FBAE40"/>
          </p15:clr>
        </p15:guide>
        <p15:guide id="3" pos="6062">
          <p15:clr>
            <a:srgbClr val="FBAE40"/>
          </p15:clr>
        </p15:guide>
        <p15:guide id="4" orient="horz" pos="4012">
          <p15:clr>
            <a:srgbClr val="FBAE40"/>
          </p15:clr>
        </p15:guide>
        <p15:guide id="5" orient="horz" pos="1960">
          <p15:clr>
            <a:srgbClr val="FBAE40"/>
          </p15:clr>
        </p15:guide>
        <p15:guide id="6" orient="horz" pos="414">
          <p15:clr>
            <a:srgbClr val="FBAE40"/>
          </p15:clr>
        </p15:guide>
        <p15:guide id="7" orient="horz" pos="1003">
          <p15:clr>
            <a:srgbClr val="FBAE40"/>
          </p15:clr>
        </p15:guide>
        <p15:guide id="12" orient="horz" pos="822">
          <p15:clr>
            <a:srgbClr val="FBAE40"/>
          </p15:clr>
        </p15:guide>
        <p15:guide id="13" orient="horz" pos="235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거버닝 X, 타이틀 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ine 28">
            <a:extLst>
              <a:ext uri="{FF2B5EF4-FFF2-40B4-BE49-F238E27FC236}">
                <a16:creationId xmlns:a16="http://schemas.microsoft.com/office/drawing/2014/main" id="{6ED41015-C47F-4E0A-9B76-C44F853E8ED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" y="622967"/>
            <a:ext cx="9632950" cy="0"/>
          </a:xfrm>
          <a:prstGeom prst="line">
            <a:avLst/>
          </a:prstGeom>
          <a:noFill/>
          <a:ln w="6350">
            <a:solidFill>
              <a:srgbClr val="224F77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sz="1492" dirty="0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9C54045-FC49-4799-A601-D992FFD88C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56214" y="404664"/>
            <a:ext cx="2166362" cy="244360"/>
          </a:xfrm>
          <a:prstGeom prst="rect">
            <a:avLst/>
          </a:prstGeom>
        </p:spPr>
        <p:txBody>
          <a:bodyPr rIns="0" anchor="b" anchorCtr="0"/>
          <a:lstStyle>
            <a:lvl1pPr marL="0" indent="0" algn="r">
              <a:spcBef>
                <a:spcPts val="0"/>
              </a:spcBef>
              <a:buFontTx/>
              <a:buNone/>
              <a:defRPr sz="900">
                <a:solidFill>
                  <a:srgbClr val="224F77"/>
                </a:solidFill>
                <a:latin typeface="+mj-ea"/>
                <a:ea typeface="+mj-ea"/>
              </a:defRPr>
            </a:lvl1pPr>
            <a:lvl2pPr marL="447663" indent="0">
              <a:buFontTx/>
              <a:buNone/>
              <a:defRPr sz="1175">
                <a:latin typeface="+mn-ea"/>
                <a:ea typeface="+mn-ea"/>
              </a:defRPr>
            </a:lvl2pPr>
            <a:lvl3pPr marL="895327" indent="0">
              <a:buFontTx/>
              <a:buNone/>
              <a:defRPr sz="1175">
                <a:latin typeface="+mn-ea"/>
                <a:ea typeface="+mn-ea"/>
              </a:defRPr>
            </a:lvl3pPr>
            <a:lvl4pPr marL="1342990" indent="0">
              <a:buFontTx/>
              <a:buNone/>
              <a:defRPr sz="1175">
                <a:latin typeface="+mn-ea"/>
                <a:ea typeface="+mn-ea"/>
              </a:defRPr>
            </a:lvl4pPr>
            <a:lvl5pPr marL="1790653" indent="0">
              <a:buFontTx/>
              <a:buNone/>
              <a:defRPr sz="1175">
                <a:latin typeface="+mn-ea"/>
                <a:ea typeface="+mn-ea"/>
              </a:defRPr>
            </a:lvl5pPr>
          </a:lstStyle>
          <a:p>
            <a:pPr lvl="0"/>
            <a:r>
              <a:rPr lang="en-US" altLang="ko-KR" dirty="0" err="1"/>
              <a:t>KoPub</a:t>
            </a:r>
            <a:r>
              <a:rPr lang="en-US" altLang="ko-KR" dirty="0"/>
              <a:t> </a:t>
            </a:r>
            <a:r>
              <a:rPr lang="ko-KR" altLang="en-US" dirty="0"/>
              <a:t>돋움체 </a:t>
            </a:r>
            <a:r>
              <a:rPr lang="en-US" altLang="ko-KR" dirty="0"/>
              <a:t>Bold 9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3863A6-6A60-4A70-85E3-359026F40405}"/>
              </a:ext>
            </a:extLst>
          </p:cNvPr>
          <p:cNvSpPr/>
          <p:nvPr userDrawn="1"/>
        </p:nvSpPr>
        <p:spPr bwMode="auto">
          <a:xfrm>
            <a:off x="7454558" y="196026"/>
            <a:ext cx="2168018" cy="13663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tIns="32659" rIns="0" bIns="32659" rtlCol="0" anchor="ctr"/>
          <a:lstStyle/>
          <a:p>
            <a:pPr marL="0" marR="0" lvl="0" indent="0" algn="r" defTabSz="829544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0" dirty="0">
                <a:solidFill>
                  <a:srgbClr val="224F77"/>
                </a:solidFill>
                <a:latin typeface="+mj-ea"/>
                <a:ea typeface="+mj-ea"/>
              </a:rPr>
              <a:t>공공의료 </a:t>
            </a:r>
            <a:r>
              <a:rPr lang="en-US" altLang="ko-KR" sz="900" b="0" dirty="0">
                <a:solidFill>
                  <a:srgbClr val="224F77"/>
                </a:solidFill>
                <a:latin typeface="+mj-ea"/>
                <a:ea typeface="+mj-ea"/>
              </a:rPr>
              <a:t>AI </a:t>
            </a:r>
            <a:r>
              <a:rPr lang="ko-KR" altLang="en-US" sz="900" b="0" dirty="0">
                <a:solidFill>
                  <a:srgbClr val="224F77"/>
                </a:solidFill>
                <a:latin typeface="+mj-ea"/>
                <a:ea typeface="+mj-ea"/>
              </a:rPr>
              <a:t>정보화전략계획</a:t>
            </a:r>
            <a:r>
              <a:rPr lang="en-US" altLang="ko-KR" sz="900" b="0" dirty="0">
                <a:solidFill>
                  <a:srgbClr val="224F77"/>
                </a:solidFill>
                <a:latin typeface="+mj-ea"/>
                <a:ea typeface="+mj-ea"/>
              </a:rPr>
              <a:t>(ISP) </a:t>
            </a:r>
            <a:r>
              <a:rPr lang="ko-KR" altLang="en-US" sz="900" b="0" dirty="0">
                <a:solidFill>
                  <a:srgbClr val="224F77"/>
                </a:solidFill>
                <a:latin typeface="+mj-ea"/>
                <a:ea typeface="+mj-ea"/>
              </a:rPr>
              <a:t>수립</a:t>
            </a:r>
            <a:endParaRPr lang="en-US" altLang="ko-KR" sz="900" b="0" dirty="0">
              <a:solidFill>
                <a:srgbClr val="224F77"/>
              </a:solidFill>
              <a:latin typeface="+mj-ea"/>
              <a:ea typeface="+mj-ea"/>
            </a:endParaRPr>
          </a:p>
          <a:p>
            <a:pPr marL="0" marR="0" lvl="0" indent="0" algn="r" defTabSz="829544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srgbClr val="224F77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Ⅲ</a:t>
            </a:r>
            <a:r>
              <a:rPr lang="en-US" altLang="ko-KR" sz="900" dirty="0">
                <a:solidFill>
                  <a:srgbClr val="224F77"/>
                </a:solidFill>
                <a:latin typeface="+mj-ea"/>
                <a:ea typeface="+mj-ea"/>
              </a:rPr>
              <a:t>. </a:t>
            </a:r>
            <a:r>
              <a:rPr lang="ko-KR" altLang="en-US" sz="900" dirty="0">
                <a:solidFill>
                  <a:srgbClr val="224F77"/>
                </a:solidFill>
                <a:latin typeface="+mj-ea"/>
                <a:ea typeface="+mj-ea"/>
              </a:rPr>
              <a:t>현황분석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B1AC082B-3C1B-40BE-A7EA-ECBAF3E557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423" y="260900"/>
            <a:ext cx="6480720" cy="395792"/>
          </a:xfrm>
          <a:prstGeom prst="rect">
            <a:avLst/>
          </a:prstGeom>
        </p:spPr>
        <p:txBody>
          <a:bodyPr lIns="0" rIns="0" anchor="ctr" anchorCtr="0"/>
          <a:lstStyle>
            <a:lvl1pPr algn="l" eaLnBrk="1" latinLnBrk="0" hangingPunct="1">
              <a:defRPr sz="1600">
                <a:solidFill>
                  <a:srgbClr val="333333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 err="1"/>
              <a:t>KoPub</a:t>
            </a:r>
            <a:r>
              <a:rPr lang="en-US" altLang="ko-KR" dirty="0"/>
              <a:t> </a:t>
            </a:r>
            <a:r>
              <a:rPr lang="ko-KR" altLang="en-US" dirty="0"/>
              <a:t>돋움체 </a:t>
            </a:r>
            <a:r>
              <a:rPr lang="en-US" altLang="ko-KR" dirty="0"/>
              <a:t>Bold 16</a:t>
            </a:r>
            <a:endParaRPr lang="ko-KR" altLang="en-US" dirty="0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6398442F-85A6-4155-92F6-A05A561C91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" y="44624"/>
            <a:ext cx="2917342" cy="24436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spcBef>
                <a:spcPts val="0"/>
              </a:spcBef>
              <a:buFontTx/>
              <a:buNone/>
              <a:defRPr sz="1100">
                <a:solidFill>
                  <a:srgbClr val="224F77"/>
                </a:solidFill>
                <a:latin typeface="+mj-ea"/>
                <a:ea typeface="+mj-ea"/>
              </a:defRPr>
            </a:lvl1pPr>
            <a:lvl2pPr marL="447663" indent="0">
              <a:buFontTx/>
              <a:buNone/>
              <a:defRPr sz="1175">
                <a:latin typeface="+mn-ea"/>
                <a:ea typeface="+mn-ea"/>
              </a:defRPr>
            </a:lvl2pPr>
            <a:lvl3pPr marL="895327" indent="0">
              <a:buFontTx/>
              <a:buNone/>
              <a:defRPr sz="1175">
                <a:latin typeface="+mn-ea"/>
                <a:ea typeface="+mn-ea"/>
              </a:defRPr>
            </a:lvl3pPr>
            <a:lvl4pPr marL="1342990" indent="0">
              <a:buFontTx/>
              <a:buNone/>
              <a:defRPr sz="1175">
                <a:latin typeface="+mn-ea"/>
                <a:ea typeface="+mn-ea"/>
              </a:defRPr>
            </a:lvl4pPr>
            <a:lvl5pPr marL="1790653" indent="0">
              <a:buFontTx/>
              <a:buNone/>
              <a:defRPr sz="1175">
                <a:latin typeface="+mn-ea"/>
                <a:ea typeface="+mn-ea"/>
              </a:defRPr>
            </a:lvl5pPr>
          </a:lstStyle>
          <a:p>
            <a:pPr lvl="0"/>
            <a:r>
              <a:rPr lang="en-US" altLang="ko-KR" dirty="0" err="1"/>
              <a:t>KoPub</a:t>
            </a:r>
            <a:r>
              <a:rPr lang="en-US" altLang="ko-KR" dirty="0"/>
              <a:t> </a:t>
            </a:r>
            <a:r>
              <a:rPr lang="ko-KR" altLang="en-US" dirty="0"/>
              <a:t>돋움체 </a:t>
            </a:r>
            <a:r>
              <a:rPr lang="en-US" altLang="ko-KR" dirty="0"/>
              <a:t>Bold 11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127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pos="172">
          <p15:clr>
            <a:srgbClr val="FBAE40"/>
          </p15:clr>
        </p15:guide>
        <p15:guide id="3" pos="6062">
          <p15:clr>
            <a:srgbClr val="FBAE40"/>
          </p15:clr>
        </p15:guide>
        <p15:guide id="4" orient="horz" pos="4012">
          <p15:clr>
            <a:srgbClr val="FBAE40"/>
          </p15:clr>
        </p15:guide>
        <p15:guide id="5" orient="horz" pos="1960">
          <p15:clr>
            <a:srgbClr val="FBAE40"/>
          </p15:clr>
        </p15:guide>
        <p15:guide id="6" orient="horz" pos="414">
          <p15:clr>
            <a:srgbClr val="FBAE40"/>
          </p15:clr>
        </p15:guide>
        <p15:guide id="7" orient="horz" pos="1003">
          <p15:clr>
            <a:srgbClr val="FBAE40"/>
          </p15:clr>
        </p15:guide>
        <p15:guide id="12" orient="horz" pos="822">
          <p15:clr>
            <a:srgbClr val="FBAE40"/>
          </p15:clr>
        </p15:guide>
        <p15:guide id="13" orient="horz" pos="235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(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26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bg>
      <p:bgPr>
        <a:blipFill dpi="0" rotWithShape="1">
          <a:blip r:embed="rId2">
            <a:lum/>
          </a:blip>
          <a:srcRect/>
          <a:stretch>
            <a:fillRect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7381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직사각형 76">
            <a:extLst>
              <a:ext uri="{FF2B5EF4-FFF2-40B4-BE49-F238E27FC236}">
                <a16:creationId xmlns:a16="http://schemas.microsoft.com/office/drawing/2014/main" id="{85F6DC24-5691-4A2A-B45D-9C7D8D7AD0DF}"/>
              </a:ext>
            </a:extLst>
          </p:cNvPr>
          <p:cNvSpPr/>
          <p:nvPr userDrawn="1"/>
        </p:nvSpPr>
        <p:spPr>
          <a:xfrm>
            <a:off x="4466785" y="6524625"/>
            <a:ext cx="972430" cy="333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>
                <a:ln w="9525" cmpd="sng">
                  <a:solidFill>
                    <a:srgbClr val="FFFFFF">
                      <a:alpha val="0"/>
                    </a:srgbClr>
                  </a:solidFill>
                  <a:prstDash val="solid"/>
                </a:ln>
              </a:defRPr>
            </a:pPr>
            <a:r>
              <a:rPr kumimoji="0" lang="en-US" altLang="ko-KR" sz="1077" b="1" i="0" u="none" strike="noStrike" kern="1200" cap="none" spc="0" normalizeH="0" baseline="0" noProof="0" dirty="0">
                <a:ln w="9525" cmpd="sng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KoPub바탕체 Bold" panose="02020603020101020101" pitchFamily="18" charset="-127"/>
                <a:ea typeface="KoPub바탕체 Bold" panose="02020603020101020101" pitchFamily="18" charset="-127"/>
                <a:cs typeface="Malgun Gothic Semilight" panose="020B0502040204020203" pitchFamily="50" charset="-127"/>
              </a:rPr>
              <a:t>Ⅲ</a:t>
            </a:r>
            <a:r>
              <a:rPr kumimoji="0" lang="en-US" altLang="ko-KR" sz="1077" b="0" i="0" u="none" strike="noStrike" kern="1200" cap="none" spc="0" normalizeH="0" baseline="0" noProof="0" dirty="0">
                <a:ln w="9525" cmpd="sng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- </a:t>
            </a:r>
            <a:fld id="{54D1D492-CD7B-4581-A48F-71E81C88CDB2}" type="slidenum">
              <a:rPr lang="ko-KR" altLang="en-US" sz="1077" smtClean="0">
                <a:ln w="9525" cmpd="sng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000000"/>
                </a:solidFill>
                <a:latin typeface="+mj-ea"/>
                <a:ea typeface="+mj-ea"/>
              </a:rPr>
              <a:pPr algn="ctr">
                <a:defRPr>
                  <a:ln w="9525" cmpd="sng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</a:defRPr>
              </a:pPr>
              <a:t>‹#›</a:t>
            </a:fld>
            <a:endParaRPr lang="ko-KR" altLang="en-US" sz="1077" dirty="0">
              <a:ln w="9525" cmpd="sng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000000"/>
              </a:solidFill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093D670-C6C6-4E1A-9EE5-7040EF1363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3" t="9715" r="25694"/>
          <a:stretch/>
        </p:blipFill>
        <p:spPr>
          <a:xfrm>
            <a:off x="8517396" y="6505204"/>
            <a:ext cx="1116124" cy="288000"/>
          </a:xfrm>
          <a:prstGeom prst="rect">
            <a:avLst/>
          </a:prstGeom>
        </p:spPr>
      </p:pic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B79DAB5F-E9AD-4871-8A9B-0785FB1F3CAC}"/>
              </a:ext>
            </a:extLst>
          </p:cNvPr>
          <p:cNvSpPr/>
          <p:nvPr userDrawn="1"/>
        </p:nvSpPr>
        <p:spPr>
          <a:xfrm>
            <a:off x="3000" y="6489340"/>
            <a:ext cx="9900000" cy="0"/>
          </a:xfrm>
          <a:prstGeom prst="rect">
            <a:avLst/>
          </a:prstGeom>
          <a:solidFill>
            <a:srgbClr val="0A2E64"/>
          </a:solidFill>
          <a:ln>
            <a:solidFill>
              <a:srgbClr val="22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69" dirty="0">
              <a:ln w="9525" cmpd="sng">
                <a:solidFill>
                  <a:srgbClr val="FFFFFF">
                    <a:alpha val="0"/>
                  </a:srgbClr>
                </a:solidFill>
                <a:prstDash val="solid"/>
              </a:ln>
              <a:latin typeface="Arial" panose="020B0604020202020204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FFD601B-EC2E-48E5-8E3D-84FC2A828EBA}"/>
              </a:ext>
            </a:extLst>
          </p:cNvPr>
          <p:cNvGrpSpPr/>
          <p:nvPr userDrawn="1"/>
        </p:nvGrpSpPr>
        <p:grpSpPr>
          <a:xfrm>
            <a:off x="-1310312" y="1192616"/>
            <a:ext cx="1032665" cy="3000013"/>
            <a:chOff x="-1674874" y="670638"/>
            <a:chExt cx="1375201" cy="5197431"/>
          </a:xfrm>
        </p:grpSpPr>
        <p:sp>
          <p:nvSpPr>
            <p:cNvPr id="8" name="AutoShape 110">
              <a:extLst>
                <a:ext uri="{FF2B5EF4-FFF2-40B4-BE49-F238E27FC236}">
                  <a16:creationId xmlns:a16="http://schemas.microsoft.com/office/drawing/2014/main" id="{989AB466-317C-48C0-AC56-6FE358264D2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952451" y="670638"/>
              <a:ext cx="618799" cy="230856"/>
            </a:xfrm>
            <a:prstGeom prst="roundRect">
              <a:avLst>
                <a:gd name="adj" fmla="val 16667"/>
              </a:avLst>
            </a:prstGeom>
            <a:solidFill>
              <a:srgbClr val="EBF8FF"/>
            </a:solidFill>
            <a:ln w="6350">
              <a:solidFill>
                <a:srgbClr val="0072BA"/>
              </a:solidFill>
            </a:ln>
          </p:spPr>
          <p:txBody>
            <a:bodyPr wrap="square" lIns="0" tIns="0" rIns="0" bIns="0" anchor="ctr">
              <a:noAutofit/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lvl="0" algn="ctr"/>
              <a:r>
                <a:rPr lang="ko-KR" altLang="en-US" sz="953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내용</a:t>
              </a:r>
            </a:p>
          </p:txBody>
        </p:sp>
        <p:sp>
          <p:nvSpPr>
            <p:cNvPr id="9" name="AutoShape 96">
              <a:extLst>
                <a:ext uri="{FF2B5EF4-FFF2-40B4-BE49-F238E27FC236}">
                  <a16:creationId xmlns:a16="http://schemas.microsoft.com/office/drawing/2014/main" id="{9DE63277-D6B5-44EE-BC85-E846888D5C5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939242" y="1271186"/>
              <a:ext cx="618799" cy="229404"/>
            </a:xfrm>
            <a:prstGeom prst="roundRect">
              <a:avLst>
                <a:gd name="adj" fmla="val 16667"/>
              </a:avLst>
            </a:prstGeom>
            <a:solidFill>
              <a:srgbClr val="9CDBFA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lvl="0" algn="ctr"/>
              <a:r>
                <a:rPr lang="en-US" altLang="ko-KR" sz="953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2</a:t>
              </a:r>
              <a:endParaRPr lang="ko-KR" altLang="en-US" sz="953" spc="-136" dirty="0">
                <a:ln>
                  <a:solidFill>
                    <a:srgbClr val="0072BA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0" name="AutoShape 97">
              <a:extLst>
                <a:ext uri="{FF2B5EF4-FFF2-40B4-BE49-F238E27FC236}">
                  <a16:creationId xmlns:a16="http://schemas.microsoft.com/office/drawing/2014/main" id="{DA71E176-AA81-45C2-91F4-E7DA21EE5BD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939242" y="1871734"/>
              <a:ext cx="618799" cy="230856"/>
            </a:xfrm>
            <a:prstGeom prst="roundRect">
              <a:avLst>
                <a:gd name="adj" fmla="val 16667"/>
              </a:avLst>
            </a:prstGeom>
            <a:solidFill>
              <a:srgbClr val="0095DB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lvl="0" algn="ctr"/>
              <a:r>
                <a:rPr lang="en-US" altLang="ko-KR" sz="953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4</a:t>
              </a:r>
              <a:endParaRPr lang="ko-KR" altLang="en-US" sz="953" spc="-136" dirty="0">
                <a:ln>
                  <a:solidFill>
                    <a:srgbClr val="0072BA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1" name="AutoShape 98">
              <a:extLst>
                <a:ext uri="{FF2B5EF4-FFF2-40B4-BE49-F238E27FC236}">
                  <a16:creationId xmlns:a16="http://schemas.microsoft.com/office/drawing/2014/main" id="{6227D91B-30D9-4145-8C3D-9DB5E0CBD4A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939242" y="1570734"/>
              <a:ext cx="618799" cy="230856"/>
            </a:xfrm>
            <a:prstGeom prst="roundRect">
              <a:avLst>
                <a:gd name="adj" fmla="val 16667"/>
              </a:avLst>
            </a:prstGeom>
            <a:solidFill>
              <a:srgbClr val="34B4F4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lvl="0" algn="ctr"/>
              <a:r>
                <a:rPr lang="en-US" altLang="ko-KR" sz="953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3</a:t>
              </a:r>
              <a:endParaRPr lang="ko-KR" altLang="en-US" sz="953" spc="-136" dirty="0">
                <a:ln>
                  <a:solidFill>
                    <a:srgbClr val="0072BA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2" name="AutoShape 115">
              <a:extLst>
                <a:ext uri="{FF2B5EF4-FFF2-40B4-BE49-F238E27FC236}">
                  <a16:creationId xmlns:a16="http://schemas.microsoft.com/office/drawing/2014/main" id="{0702F634-0090-483B-8D84-96EDC6962E6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939242" y="971638"/>
              <a:ext cx="618799" cy="229404"/>
            </a:xfrm>
            <a:prstGeom prst="roundRect">
              <a:avLst>
                <a:gd name="adj" fmla="val 16667"/>
              </a:avLst>
            </a:prstGeom>
            <a:solidFill>
              <a:srgbClr val="D9F2FF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lvl="0" algn="ctr"/>
              <a:r>
                <a:rPr lang="en-US" altLang="ko-KR" sz="953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</a:t>
              </a:r>
              <a:endParaRPr lang="ko-KR" altLang="en-US" sz="953" spc="-136" dirty="0">
                <a:ln>
                  <a:solidFill>
                    <a:srgbClr val="0072B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3" name="AutoShape 106">
              <a:extLst>
                <a:ext uri="{FF2B5EF4-FFF2-40B4-BE49-F238E27FC236}">
                  <a16:creationId xmlns:a16="http://schemas.microsoft.com/office/drawing/2014/main" id="{1E3D1B04-97FC-42BA-A9C1-BD1B979EA6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939242" y="2172734"/>
              <a:ext cx="618799" cy="230856"/>
            </a:xfrm>
            <a:prstGeom prst="roundRect">
              <a:avLst>
                <a:gd name="adj" fmla="val 16667"/>
              </a:avLst>
            </a:prstGeom>
            <a:solidFill>
              <a:srgbClr val="0072BA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lvl="0" algn="ctr"/>
              <a:r>
                <a:rPr lang="en-US" altLang="ko-KR" sz="953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5</a:t>
              </a:r>
              <a:endParaRPr lang="ko-KR" altLang="en-US" sz="953" spc="-136" dirty="0">
                <a:ln>
                  <a:solidFill>
                    <a:srgbClr val="0072BA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AutoShape 110">
              <a:extLst>
                <a:ext uri="{FF2B5EF4-FFF2-40B4-BE49-F238E27FC236}">
                  <a16:creationId xmlns:a16="http://schemas.microsoft.com/office/drawing/2014/main" id="{31AF465B-9A9E-43C6-AD17-AFC9DCDF16C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939242" y="2473734"/>
              <a:ext cx="618799" cy="230856"/>
            </a:xfrm>
            <a:prstGeom prst="roundRect">
              <a:avLst>
                <a:gd name="adj" fmla="val 16667"/>
              </a:avLst>
            </a:prstGeom>
            <a:solidFill>
              <a:srgbClr val="1655A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lvl="0" algn="ctr"/>
              <a:r>
                <a:rPr lang="en-US" altLang="ko-KR" sz="953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6</a:t>
              </a:r>
              <a:endParaRPr lang="ko-KR" altLang="en-US" sz="953" spc="-136" dirty="0">
                <a:ln>
                  <a:solidFill>
                    <a:srgbClr val="0072BA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AutoShape 110">
              <a:extLst>
                <a:ext uri="{FF2B5EF4-FFF2-40B4-BE49-F238E27FC236}">
                  <a16:creationId xmlns:a16="http://schemas.microsoft.com/office/drawing/2014/main" id="{E8A36839-190D-4CD6-989C-681E2B5030B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939242" y="2774734"/>
              <a:ext cx="618799" cy="230856"/>
            </a:xfrm>
            <a:prstGeom prst="roundRect">
              <a:avLst>
                <a:gd name="adj" fmla="val 16667"/>
              </a:avLst>
            </a:prstGeom>
            <a:solidFill>
              <a:srgbClr val="224F77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lvl="0" algn="ctr"/>
              <a:r>
                <a:rPr lang="en-US" altLang="ko-KR" sz="953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7(</a:t>
              </a:r>
              <a:r>
                <a:rPr lang="ko-KR" altLang="en-US" sz="953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글자</a:t>
              </a:r>
              <a:r>
                <a:rPr lang="en-US" altLang="ko-KR" sz="953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</a:t>
              </a:r>
              <a:endParaRPr lang="ko-KR" altLang="en-US" sz="953" spc="-136" dirty="0">
                <a:ln>
                  <a:solidFill>
                    <a:srgbClr val="0072BA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AutoShape 110">
              <a:extLst>
                <a:ext uri="{FF2B5EF4-FFF2-40B4-BE49-F238E27FC236}">
                  <a16:creationId xmlns:a16="http://schemas.microsoft.com/office/drawing/2014/main" id="{1FC56BB6-F9A0-46B3-BA22-EF55895B91D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939242" y="3075732"/>
              <a:ext cx="618799" cy="230856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>
              <a:noFill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lang="en-US" altLang="ko-KR" sz="953" b="0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8</a:t>
              </a:r>
              <a:endParaRPr lang="ko-KR" altLang="en-US" sz="953" b="0" spc="-136" dirty="0">
                <a:ln>
                  <a:solidFill>
                    <a:srgbClr val="0072BA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7" name="AutoShape 110">
              <a:extLst>
                <a:ext uri="{FF2B5EF4-FFF2-40B4-BE49-F238E27FC236}">
                  <a16:creationId xmlns:a16="http://schemas.microsoft.com/office/drawing/2014/main" id="{1B3EC8E6-E7BD-4A8C-92E7-784AE4C7555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1654105" y="670638"/>
              <a:ext cx="618799" cy="230856"/>
            </a:xfrm>
            <a:prstGeom prst="roundRect">
              <a:avLst>
                <a:gd name="adj" fmla="val 16667"/>
              </a:avLst>
            </a:prstGeom>
            <a:solidFill>
              <a:srgbClr val="FCF2F2"/>
            </a:solidFill>
            <a:ln w="6350">
              <a:solidFill>
                <a:srgbClr val="CD0000"/>
              </a:solidFill>
            </a:ln>
          </p:spPr>
          <p:txBody>
            <a:bodyPr wrap="square" lIns="0" tIns="0" rIns="0" bIns="0" anchor="ctr">
              <a:noAutofit/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lvl="0" algn="ctr"/>
              <a:r>
                <a:rPr lang="ko-KR" altLang="en-US" sz="953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내용</a:t>
              </a:r>
            </a:p>
          </p:txBody>
        </p:sp>
        <p:sp>
          <p:nvSpPr>
            <p:cNvPr id="18" name="AutoShape 96">
              <a:extLst>
                <a:ext uri="{FF2B5EF4-FFF2-40B4-BE49-F238E27FC236}">
                  <a16:creationId xmlns:a16="http://schemas.microsoft.com/office/drawing/2014/main" id="{D725B3B4-62EC-4445-91CC-F67604777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1640896" y="1271186"/>
              <a:ext cx="618799" cy="229404"/>
            </a:xfrm>
            <a:prstGeom prst="roundRect">
              <a:avLst>
                <a:gd name="adj" fmla="val 16667"/>
              </a:avLst>
            </a:prstGeom>
            <a:solidFill>
              <a:srgbClr val="F7D6D6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lvl="0" algn="ctr"/>
              <a:r>
                <a:rPr lang="en-US" altLang="ko-KR" sz="953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2</a:t>
              </a:r>
              <a:endParaRPr lang="ko-KR" altLang="en-US" sz="953" spc="-136" dirty="0">
                <a:ln>
                  <a:solidFill>
                    <a:srgbClr val="0072BA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9" name="AutoShape 97">
              <a:extLst>
                <a:ext uri="{FF2B5EF4-FFF2-40B4-BE49-F238E27FC236}">
                  <a16:creationId xmlns:a16="http://schemas.microsoft.com/office/drawing/2014/main" id="{7EBAEA6C-F32D-417B-A9F0-03231166705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1640896" y="1871734"/>
              <a:ext cx="618799" cy="230856"/>
            </a:xfrm>
            <a:prstGeom prst="roundRect">
              <a:avLst>
                <a:gd name="adj" fmla="val 16667"/>
              </a:avLst>
            </a:prstGeom>
            <a:solidFill>
              <a:srgbClr val="E57A7A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lvl="0" algn="ctr" eaLnBrk="0" hangingPunct="0"/>
              <a:r>
                <a:rPr kumimoji="1" lang="en-US" altLang="ko-KR" sz="953" b="1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4</a:t>
              </a:r>
              <a:endParaRPr kumimoji="1" lang="ko-KR" altLang="en-US" sz="953" b="1" spc="-136" dirty="0">
                <a:ln>
                  <a:solidFill>
                    <a:srgbClr val="0072BA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0" name="AutoShape 98">
              <a:extLst>
                <a:ext uri="{FF2B5EF4-FFF2-40B4-BE49-F238E27FC236}">
                  <a16:creationId xmlns:a16="http://schemas.microsoft.com/office/drawing/2014/main" id="{D47199F9-A022-41EB-B928-3A29CA4E92D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1640896" y="1570734"/>
              <a:ext cx="618799" cy="230856"/>
            </a:xfrm>
            <a:prstGeom prst="roundRect">
              <a:avLst>
                <a:gd name="adj" fmla="val 16667"/>
              </a:avLst>
            </a:prstGeom>
            <a:solidFill>
              <a:srgbClr val="EEA8A8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lvl="0" algn="ctr"/>
              <a:r>
                <a:rPr lang="en-US" altLang="ko-KR" sz="953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3</a:t>
              </a:r>
              <a:endParaRPr lang="ko-KR" altLang="en-US" sz="953" spc="-136" dirty="0">
                <a:ln>
                  <a:solidFill>
                    <a:srgbClr val="0072BA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1" name="AutoShape 115">
              <a:extLst>
                <a:ext uri="{FF2B5EF4-FFF2-40B4-BE49-F238E27FC236}">
                  <a16:creationId xmlns:a16="http://schemas.microsoft.com/office/drawing/2014/main" id="{A7F5A6AA-8193-47D3-A14C-E0E529A2E4A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1640896" y="971638"/>
              <a:ext cx="618799" cy="229404"/>
            </a:xfrm>
            <a:prstGeom prst="roundRect">
              <a:avLst>
                <a:gd name="adj" fmla="val 16667"/>
              </a:avLst>
            </a:prstGeom>
            <a:solidFill>
              <a:srgbClr val="FBEBEB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lvl="0" algn="ctr" defTabSz="414772" rtl="0" eaLnBrk="0" latinLnBrk="0" hangingPunct="0"/>
              <a:r>
                <a:rPr kumimoji="1" lang="en-US" altLang="ko-KR" sz="953" b="1" kern="1200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1</a:t>
              </a:r>
              <a:endParaRPr kumimoji="1" lang="ko-KR" altLang="en-US" sz="953" b="1" kern="1200" spc="-136" dirty="0">
                <a:ln>
                  <a:solidFill>
                    <a:srgbClr val="0072B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22" name="AutoShape 106">
              <a:extLst>
                <a:ext uri="{FF2B5EF4-FFF2-40B4-BE49-F238E27FC236}">
                  <a16:creationId xmlns:a16="http://schemas.microsoft.com/office/drawing/2014/main" id="{B8386DB7-5190-4489-B59F-4F0F81C1035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1640896" y="2172734"/>
              <a:ext cx="618799" cy="230856"/>
            </a:xfrm>
            <a:prstGeom prst="roundRect">
              <a:avLst>
                <a:gd name="adj" fmla="val 16667"/>
              </a:avLst>
            </a:prstGeom>
            <a:solidFill>
              <a:srgbClr val="DE5959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lvl="0" algn="ctr" eaLnBrk="0" hangingPunct="0"/>
              <a:r>
                <a:rPr kumimoji="1" lang="en-US" altLang="ko-KR" sz="953" b="1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5</a:t>
              </a:r>
              <a:endParaRPr kumimoji="1" lang="ko-KR" altLang="en-US" sz="953" b="1" spc="-136" dirty="0">
                <a:ln>
                  <a:solidFill>
                    <a:srgbClr val="0072BA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3" name="AutoShape 110">
              <a:extLst>
                <a:ext uri="{FF2B5EF4-FFF2-40B4-BE49-F238E27FC236}">
                  <a16:creationId xmlns:a16="http://schemas.microsoft.com/office/drawing/2014/main" id="{15E6D8B7-88A2-4554-B68A-7F1428C92D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1640896" y="2473734"/>
              <a:ext cx="618799" cy="230856"/>
            </a:xfrm>
            <a:prstGeom prst="roundRect">
              <a:avLst>
                <a:gd name="adj" fmla="val 16667"/>
              </a:avLst>
            </a:prstGeom>
            <a:solidFill>
              <a:srgbClr val="D73333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lvl="0" algn="ctr" eaLnBrk="0" hangingPunct="0"/>
              <a:r>
                <a:rPr kumimoji="1" lang="en-US" altLang="ko-KR" sz="953" b="1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6</a:t>
              </a:r>
              <a:endParaRPr kumimoji="1" lang="ko-KR" altLang="en-US" sz="953" b="1" spc="-136" dirty="0">
                <a:ln>
                  <a:solidFill>
                    <a:srgbClr val="0072BA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4" name="AutoShape 110">
              <a:extLst>
                <a:ext uri="{FF2B5EF4-FFF2-40B4-BE49-F238E27FC236}">
                  <a16:creationId xmlns:a16="http://schemas.microsoft.com/office/drawing/2014/main" id="{ED322A88-A051-487B-B92A-5197D391E8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1640896" y="2774734"/>
              <a:ext cx="618799" cy="230856"/>
            </a:xfrm>
            <a:prstGeom prst="roundRect">
              <a:avLst>
                <a:gd name="adj" fmla="val 16667"/>
              </a:avLst>
            </a:prstGeom>
            <a:solidFill>
              <a:srgbClr val="CD0000"/>
            </a:solidFill>
            <a:ln>
              <a:noFill/>
            </a:ln>
          </p:spPr>
          <p:txBody>
            <a:bodyPr wrap="square" lIns="0" tIns="0" rIns="0" bIns="0" anchor="ctr">
              <a:noAutofit/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lvl="0" algn="ctr" eaLnBrk="0" hangingPunct="0"/>
              <a:r>
                <a:rPr kumimoji="1" lang="en-US" altLang="ko-KR" sz="953" b="1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7(</a:t>
              </a:r>
              <a:r>
                <a:rPr kumimoji="1" lang="ko-KR" altLang="en-US" sz="953" b="1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주요</a:t>
              </a:r>
              <a:r>
                <a:rPr kumimoji="1" lang="en-US" altLang="ko-KR" sz="953" b="1" spc="-136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</a:t>
              </a:r>
              <a:endParaRPr kumimoji="1" lang="ko-KR" altLang="en-US" sz="953" b="1" spc="-136" dirty="0">
                <a:ln>
                  <a:solidFill>
                    <a:srgbClr val="0072BA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5" name="AutoShape 89">
              <a:extLst>
                <a:ext uri="{FF2B5EF4-FFF2-40B4-BE49-F238E27FC236}">
                  <a16:creationId xmlns:a16="http://schemas.microsoft.com/office/drawing/2014/main" id="{29716817-C94A-4E6A-B160-69CDD69E228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952451" y="3833910"/>
              <a:ext cx="652778" cy="229404"/>
            </a:xfrm>
            <a:prstGeom prst="roundRect">
              <a:avLst>
                <a:gd name="adj" fmla="val 16667"/>
              </a:avLst>
            </a:prstGeom>
            <a:solidFill>
              <a:srgbClr val="EDEFF3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lvl="0" algn="ctr" defTabSz="414772" rtl="0" eaLnBrk="0" latinLnBrk="0" hangingPunct="0"/>
              <a:r>
                <a:rPr kumimoji="1" lang="ko-KR" altLang="en-US" sz="953" b="0" kern="1200" spc="-136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내용</a:t>
              </a:r>
            </a:p>
          </p:txBody>
        </p:sp>
        <p:sp>
          <p:nvSpPr>
            <p:cNvPr id="26" name="AutoShape 90">
              <a:extLst>
                <a:ext uri="{FF2B5EF4-FFF2-40B4-BE49-F238E27FC236}">
                  <a16:creationId xmlns:a16="http://schemas.microsoft.com/office/drawing/2014/main" id="{D73644A3-0E4C-4191-AC73-F79A4662B42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952451" y="4434044"/>
              <a:ext cx="652778" cy="230856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40000"/>
                <a:lumOff val="6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lvl="0" algn="ctr"/>
              <a:r>
                <a:rPr lang="ko-KR" altLang="en-US" sz="953" spc="-136" dirty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내용</a:t>
              </a:r>
            </a:p>
          </p:txBody>
        </p:sp>
        <p:sp>
          <p:nvSpPr>
            <p:cNvPr id="27" name="AutoShape 91">
              <a:extLst>
                <a:ext uri="{FF2B5EF4-FFF2-40B4-BE49-F238E27FC236}">
                  <a16:creationId xmlns:a16="http://schemas.microsoft.com/office/drawing/2014/main" id="{0E928CE6-FD13-4328-9A8B-45F45DC4C27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952451" y="4133251"/>
              <a:ext cx="652778" cy="230856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marL="0" lvl="0" algn="ctr" defTabSz="414772" rtl="0" eaLnBrk="0" latinLnBrk="0" hangingPunct="0"/>
              <a:r>
                <a:rPr kumimoji="1" lang="ko-KR" altLang="en-US" sz="953" b="0" kern="1200" spc="-136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내용</a:t>
              </a:r>
            </a:p>
          </p:txBody>
        </p:sp>
        <p:sp>
          <p:nvSpPr>
            <p:cNvPr id="28" name="AutoShape 92">
              <a:extLst>
                <a:ext uri="{FF2B5EF4-FFF2-40B4-BE49-F238E27FC236}">
                  <a16:creationId xmlns:a16="http://schemas.microsoft.com/office/drawing/2014/main" id="{BD6D5AEF-6C93-4A0A-81F9-B6870BF5EFE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952451" y="4734837"/>
              <a:ext cx="652778" cy="230856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60000"/>
                <a:lumOff val="4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lvl="0" algn="ctr"/>
              <a:r>
                <a:rPr lang="ko-KR" altLang="en-US" sz="953" spc="-136" dirty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내용</a:t>
              </a:r>
            </a:p>
          </p:txBody>
        </p:sp>
        <p:sp>
          <p:nvSpPr>
            <p:cNvPr id="29" name="AutoShape 108">
              <a:extLst>
                <a:ext uri="{FF2B5EF4-FFF2-40B4-BE49-F238E27FC236}">
                  <a16:creationId xmlns:a16="http://schemas.microsoft.com/office/drawing/2014/main" id="{612C3A88-ECEC-45AA-B30D-6DE9A64BF27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952451" y="5035630"/>
              <a:ext cx="652778" cy="230856"/>
            </a:xfrm>
            <a:prstGeom prst="roundRect">
              <a:avLst>
                <a:gd name="adj" fmla="val 16667"/>
              </a:avLst>
            </a:prstGeom>
            <a:solidFill>
              <a:srgbClr val="667E9E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lvl="0" algn="ctr"/>
              <a:r>
                <a:rPr lang="ko-KR" altLang="en-US" sz="953" spc="-136" dirty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내용</a:t>
              </a:r>
            </a:p>
          </p:txBody>
        </p:sp>
        <p:sp>
          <p:nvSpPr>
            <p:cNvPr id="30" name="AutoShape 112">
              <a:extLst>
                <a:ext uri="{FF2B5EF4-FFF2-40B4-BE49-F238E27FC236}">
                  <a16:creationId xmlns:a16="http://schemas.microsoft.com/office/drawing/2014/main" id="{A1CBC531-7459-4129-8F50-907A5E0C23C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952451" y="5336423"/>
              <a:ext cx="652778" cy="230856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lvl="0" algn="ctr"/>
              <a:r>
                <a:rPr lang="ko-KR" altLang="en-US" sz="953" spc="-136" dirty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내용</a:t>
              </a:r>
            </a:p>
          </p:txBody>
        </p:sp>
        <p:sp>
          <p:nvSpPr>
            <p:cNvPr id="31" name="AutoShape 113">
              <a:extLst>
                <a:ext uri="{FF2B5EF4-FFF2-40B4-BE49-F238E27FC236}">
                  <a16:creationId xmlns:a16="http://schemas.microsoft.com/office/drawing/2014/main" id="{26ADBED4-6239-47D5-95CA-6776237E11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952451" y="3534569"/>
              <a:ext cx="652778" cy="2294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6350">
              <a:solidFill>
                <a:srgbClr val="E6E6E6"/>
              </a:solidFill>
              <a:round/>
              <a:headEnd/>
              <a:tailEnd/>
            </a:ln>
            <a:effectLst/>
          </p:spPr>
          <p:txBody>
            <a:bodyPr wrap="square" lIns="0" tIns="0" rIns="0" bIns="0" anchor="ctr" anchorCtr="0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953" b="0" spc="-136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내용</a:t>
              </a:r>
            </a:p>
          </p:txBody>
        </p:sp>
        <p:sp>
          <p:nvSpPr>
            <p:cNvPr id="32" name="AutoShape 112">
              <a:extLst>
                <a:ext uri="{FF2B5EF4-FFF2-40B4-BE49-F238E27FC236}">
                  <a16:creationId xmlns:a16="http://schemas.microsoft.com/office/drawing/2014/main" id="{D4D51ED3-2403-49D1-9483-D0B21121F4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952451" y="5637213"/>
              <a:ext cx="652778" cy="230856"/>
            </a:xfrm>
            <a:prstGeom prst="roundRect">
              <a:avLst>
                <a:gd name="adj" fmla="val 16667"/>
              </a:avLst>
            </a:prstGeom>
            <a:solidFill>
              <a:srgbClr val="333F50"/>
            </a:solidFill>
            <a:ln>
              <a:noFill/>
            </a:ln>
          </p:spPr>
          <p:txBody>
            <a:bodyPr wrap="square" lIns="0" tIns="0" rIns="0" bIns="0" anchor="ctr" anchorCtr="0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lvl="0" algn="ctr" eaLnBrk="0" hangingPunct="0"/>
              <a:r>
                <a:rPr kumimoji="1" lang="ko-KR" altLang="en-US" sz="953" b="0" spc="-136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내용</a:t>
              </a:r>
            </a:p>
          </p:txBody>
        </p:sp>
        <p:sp>
          <p:nvSpPr>
            <p:cNvPr id="33" name="AutoShape 89">
              <a:extLst>
                <a:ext uri="{FF2B5EF4-FFF2-40B4-BE49-F238E27FC236}">
                  <a16:creationId xmlns:a16="http://schemas.microsoft.com/office/drawing/2014/main" id="{7DE82255-EA01-40B6-AC68-96DE0AB189D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1674874" y="3833910"/>
              <a:ext cx="652778" cy="229404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anchor="ctr" anchorCtr="0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953" b="0" spc="-136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내용</a:t>
              </a:r>
            </a:p>
          </p:txBody>
        </p:sp>
        <p:sp>
          <p:nvSpPr>
            <p:cNvPr id="34" name="AutoShape 90">
              <a:extLst>
                <a:ext uri="{FF2B5EF4-FFF2-40B4-BE49-F238E27FC236}">
                  <a16:creationId xmlns:a16="http://schemas.microsoft.com/office/drawing/2014/main" id="{EF36F1D3-E0EC-4FB0-BAF3-B3C41D797B0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1674874" y="4434044"/>
              <a:ext cx="652778" cy="230856"/>
            </a:xfrm>
            <a:prstGeom prst="roundRect">
              <a:avLst>
                <a:gd name="adj" fmla="val 16667"/>
              </a:avLst>
            </a:prstGeom>
            <a:solidFill>
              <a:srgbClr val="C5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953" b="0" spc="-136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내용</a:t>
              </a:r>
            </a:p>
          </p:txBody>
        </p:sp>
        <p:sp>
          <p:nvSpPr>
            <p:cNvPr id="35" name="AutoShape 91">
              <a:extLst>
                <a:ext uri="{FF2B5EF4-FFF2-40B4-BE49-F238E27FC236}">
                  <a16:creationId xmlns:a16="http://schemas.microsoft.com/office/drawing/2014/main" id="{6AF80BA9-D958-4FCD-91CD-3F094B76C6D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1674874" y="4133251"/>
              <a:ext cx="652778" cy="230856"/>
            </a:xfrm>
            <a:prstGeom prst="roundRect">
              <a:avLst>
                <a:gd name="adj" fmla="val 16667"/>
              </a:avLst>
            </a:prstGeom>
            <a:solidFill>
              <a:srgbClr val="D5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953" b="0" spc="-136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내용</a:t>
              </a:r>
            </a:p>
          </p:txBody>
        </p:sp>
        <p:sp>
          <p:nvSpPr>
            <p:cNvPr id="36" name="AutoShape 92">
              <a:extLst>
                <a:ext uri="{FF2B5EF4-FFF2-40B4-BE49-F238E27FC236}">
                  <a16:creationId xmlns:a16="http://schemas.microsoft.com/office/drawing/2014/main" id="{F30E4C42-0618-44F2-9085-85A9674B610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1674874" y="4734837"/>
              <a:ext cx="652778" cy="230856"/>
            </a:xfrm>
            <a:prstGeom prst="roundRect">
              <a:avLst>
                <a:gd name="adj" fmla="val 16667"/>
              </a:avLst>
            </a:prstGeom>
            <a:solidFill>
              <a:srgbClr val="A7A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953" b="0" spc="-136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내용</a:t>
              </a:r>
            </a:p>
          </p:txBody>
        </p:sp>
        <p:sp>
          <p:nvSpPr>
            <p:cNvPr id="37" name="AutoShape 108">
              <a:extLst>
                <a:ext uri="{FF2B5EF4-FFF2-40B4-BE49-F238E27FC236}">
                  <a16:creationId xmlns:a16="http://schemas.microsoft.com/office/drawing/2014/main" id="{894901A4-96C5-45DE-9928-14DA83D592F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1674874" y="5035630"/>
              <a:ext cx="652778" cy="230856"/>
            </a:xfrm>
            <a:prstGeom prst="roundRect">
              <a:avLst>
                <a:gd name="adj" fmla="val 16667"/>
              </a:avLst>
            </a:prstGeom>
            <a:solidFill>
              <a:srgbClr val="8E8E8C"/>
            </a:solidFill>
            <a:ln>
              <a:noFill/>
            </a:ln>
          </p:spPr>
          <p:txBody>
            <a:bodyPr wrap="square" lIns="0" tIns="0" rIns="0" bIns="0" anchor="ctr" anchorCtr="0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953" b="0" spc="-136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내용</a:t>
              </a:r>
            </a:p>
          </p:txBody>
        </p:sp>
        <p:sp>
          <p:nvSpPr>
            <p:cNvPr id="38" name="AutoShape 112">
              <a:extLst>
                <a:ext uri="{FF2B5EF4-FFF2-40B4-BE49-F238E27FC236}">
                  <a16:creationId xmlns:a16="http://schemas.microsoft.com/office/drawing/2014/main" id="{C7A84657-17E1-45CD-96D1-BF644FB14D1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1674874" y="5336423"/>
              <a:ext cx="652778" cy="230856"/>
            </a:xfrm>
            <a:prstGeom prst="roundRect">
              <a:avLst>
                <a:gd name="adj" fmla="val 16667"/>
              </a:avLst>
            </a:prstGeom>
            <a:solidFill>
              <a:srgbClr val="58595B"/>
            </a:solidFill>
            <a:ln>
              <a:noFill/>
            </a:ln>
          </p:spPr>
          <p:txBody>
            <a:bodyPr wrap="square" lIns="0" tIns="0" rIns="0" bIns="0" anchor="ctr" anchorCtr="0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953" b="0" spc="-136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내용</a:t>
              </a:r>
            </a:p>
          </p:txBody>
        </p:sp>
        <p:sp>
          <p:nvSpPr>
            <p:cNvPr id="39" name="AutoShape 113">
              <a:extLst>
                <a:ext uri="{FF2B5EF4-FFF2-40B4-BE49-F238E27FC236}">
                  <a16:creationId xmlns:a16="http://schemas.microsoft.com/office/drawing/2014/main" id="{A32F6C2F-7C55-40E4-AADB-7513FA90527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1674874" y="3534569"/>
              <a:ext cx="652778" cy="2294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square" lIns="0" tIns="0" rIns="0" bIns="0" anchor="ctr" anchorCtr="0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953" b="0" spc="-136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내용</a:t>
              </a:r>
            </a:p>
          </p:txBody>
        </p:sp>
        <p:sp>
          <p:nvSpPr>
            <p:cNvPr id="40" name="AutoShape 112">
              <a:extLst>
                <a:ext uri="{FF2B5EF4-FFF2-40B4-BE49-F238E27FC236}">
                  <a16:creationId xmlns:a16="http://schemas.microsoft.com/office/drawing/2014/main" id="{7B53EE43-4E24-4552-9615-69E6FB9D94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1674874" y="5637213"/>
              <a:ext cx="652778" cy="230856"/>
            </a:xfrm>
            <a:prstGeom prst="roundRect">
              <a:avLst>
                <a:gd name="adj" fmla="val 16667"/>
              </a:avLst>
            </a:prstGeom>
            <a:solidFill>
              <a:srgbClr val="333435"/>
            </a:solidFill>
            <a:ln>
              <a:noFill/>
            </a:ln>
          </p:spPr>
          <p:txBody>
            <a:bodyPr wrap="square" lIns="0" tIns="0" rIns="0" bIns="0" anchor="ctr" anchorCtr="0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953" b="0" spc="-136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내용</a:t>
              </a:r>
            </a:p>
          </p:txBody>
        </p:sp>
      </p:grpSp>
      <p:pic>
        <p:nvPicPr>
          <p:cNvPr id="41" name="그림 40">
            <a:extLst>
              <a:ext uri="{FF2B5EF4-FFF2-40B4-BE49-F238E27FC236}">
                <a16:creationId xmlns:a16="http://schemas.microsoft.com/office/drawing/2014/main" id="{438A9993-29D4-4B1D-B09B-EB8B2D7860D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84" y="6552484"/>
            <a:ext cx="1260525" cy="296896"/>
          </a:xfrm>
          <a:prstGeom prst="rect">
            <a:avLst/>
          </a:prstGeom>
        </p:spPr>
      </p:pic>
      <p:pic>
        <p:nvPicPr>
          <p:cNvPr id="42" name="_x508518152">
            <a:extLst>
              <a:ext uri="{FF2B5EF4-FFF2-40B4-BE49-F238E27FC236}">
                <a16:creationId xmlns:a16="http://schemas.microsoft.com/office/drawing/2014/main" id="{70C4319C-58B5-4DAF-AEA1-DB9F3F86D7B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88" b="18637"/>
          <a:stretch/>
        </p:blipFill>
        <p:spPr bwMode="auto">
          <a:xfrm>
            <a:off x="1538577" y="6489340"/>
            <a:ext cx="1146171" cy="34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6302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308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308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나눔고딕 ExtraBold" pitchFamily="50" charset="-127"/>
          <a:ea typeface="나눔고딕 ExtraBold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308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나눔고딕 ExtraBold" pitchFamily="50" charset="-127"/>
          <a:ea typeface="나눔고딕 ExtraBold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308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나눔고딕 ExtraBold" pitchFamily="50" charset="-127"/>
          <a:ea typeface="나눔고딕 ExtraBold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308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나눔고딕 ExtraBold" pitchFamily="50" charset="-127"/>
          <a:ea typeface="나눔고딕 ExtraBold" pitchFamily="50" charset="-127"/>
        </a:defRPr>
      </a:lvl5pPr>
      <a:lvl6pPr marL="447663" algn="ctr" rtl="0" fontAlgn="base" latinLnBrk="1">
        <a:spcBef>
          <a:spcPct val="0"/>
        </a:spcBef>
        <a:spcAft>
          <a:spcPct val="0"/>
        </a:spcAft>
        <a:defRPr sz="4308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나눔고딕 ExtraBold" pitchFamily="50" charset="-127"/>
          <a:ea typeface="나눔고딕 ExtraBold" pitchFamily="50" charset="-127"/>
        </a:defRPr>
      </a:lvl6pPr>
      <a:lvl7pPr marL="895327" algn="ctr" rtl="0" fontAlgn="base" latinLnBrk="1">
        <a:spcBef>
          <a:spcPct val="0"/>
        </a:spcBef>
        <a:spcAft>
          <a:spcPct val="0"/>
        </a:spcAft>
        <a:defRPr sz="4308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나눔고딕 ExtraBold" pitchFamily="50" charset="-127"/>
          <a:ea typeface="나눔고딕 ExtraBold" pitchFamily="50" charset="-127"/>
        </a:defRPr>
      </a:lvl7pPr>
      <a:lvl8pPr marL="1342990" algn="ctr" rtl="0" fontAlgn="base" latinLnBrk="1">
        <a:spcBef>
          <a:spcPct val="0"/>
        </a:spcBef>
        <a:spcAft>
          <a:spcPct val="0"/>
        </a:spcAft>
        <a:defRPr sz="4308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나눔고딕 ExtraBold" pitchFamily="50" charset="-127"/>
          <a:ea typeface="나눔고딕 ExtraBold" pitchFamily="50" charset="-127"/>
        </a:defRPr>
      </a:lvl8pPr>
      <a:lvl9pPr marL="1790653" algn="ctr" rtl="0" fontAlgn="base" latinLnBrk="1">
        <a:spcBef>
          <a:spcPct val="0"/>
        </a:spcBef>
        <a:spcAft>
          <a:spcPct val="0"/>
        </a:spcAft>
        <a:defRPr sz="4308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나눔고딕 ExtraBold" pitchFamily="50" charset="-127"/>
          <a:ea typeface="나눔고딕 ExtraBold" pitchFamily="50" charset="-127"/>
        </a:defRPr>
      </a:lvl9pPr>
    </p:titleStyle>
    <p:bodyStyle>
      <a:lvl1pPr marL="335747" indent="-335747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13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727453" indent="-27979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742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2pPr>
      <a:lvl3pPr marL="1119158" indent="-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350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3pPr>
      <a:lvl4pPr marL="1566821" indent="-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959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4pPr>
      <a:lvl5pPr marL="2014485" indent="-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959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5pPr>
      <a:lvl6pPr marL="2462148" indent="-223832" algn="l" defTabSz="895327" rtl="0" eaLnBrk="1" latinLnBrk="1" hangingPunct="1">
        <a:spcBef>
          <a:spcPct val="20000"/>
        </a:spcBef>
        <a:buFont typeface="Arial" pitchFamily="34" charset="0"/>
        <a:buChar char="•"/>
        <a:defRPr sz="1959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6pPr>
      <a:lvl7pPr marL="2909811" indent="-223832" algn="l" defTabSz="895327" rtl="0" eaLnBrk="1" latinLnBrk="1" hangingPunct="1">
        <a:spcBef>
          <a:spcPct val="20000"/>
        </a:spcBef>
        <a:buFont typeface="Arial" pitchFamily="34" charset="0"/>
        <a:buChar char="•"/>
        <a:defRPr sz="1959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7pPr>
      <a:lvl8pPr marL="3357475" indent="-223832" algn="l" defTabSz="895327" rtl="0" eaLnBrk="1" latinLnBrk="1" hangingPunct="1">
        <a:spcBef>
          <a:spcPct val="20000"/>
        </a:spcBef>
        <a:buFont typeface="Arial" pitchFamily="34" charset="0"/>
        <a:buChar char="•"/>
        <a:defRPr sz="1959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8pPr>
      <a:lvl9pPr marL="3805138" indent="-223832" algn="l" defTabSz="895327" rtl="0" eaLnBrk="1" latinLnBrk="1" hangingPunct="1">
        <a:spcBef>
          <a:spcPct val="20000"/>
        </a:spcBef>
        <a:buFont typeface="Arial" pitchFamily="34" charset="0"/>
        <a:buChar char="•"/>
        <a:defRPr sz="1959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>
          <a:ln w="9525" cmpd="sng">
            <a:solidFill>
              <a:srgbClr val="FFFFFF">
                <a:alpha val="0"/>
              </a:srgbClr>
            </a:solidFill>
            <a:prstDash val="solid"/>
          </a:ln>
        </a:defRPr>
      </a:defPPr>
      <a:lvl1pPr marL="0" algn="l" defTabSz="895327" rtl="0" eaLnBrk="1" latinLnBrk="1" hangingPunct="1">
        <a:defRPr sz="176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447663" algn="l" defTabSz="895327" rtl="0" eaLnBrk="1" latinLnBrk="1" hangingPunct="1">
        <a:defRPr sz="176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2pPr>
      <a:lvl3pPr marL="895327" algn="l" defTabSz="895327" rtl="0" eaLnBrk="1" latinLnBrk="1" hangingPunct="1">
        <a:defRPr sz="176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3pPr>
      <a:lvl4pPr marL="1342990" algn="l" defTabSz="895327" rtl="0" eaLnBrk="1" latinLnBrk="1" hangingPunct="1">
        <a:defRPr sz="176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4pPr>
      <a:lvl5pPr marL="1790653" algn="l" defTabSz="895327" rtl="0" eaLnBrk="1" latinLnBrk="1" hangingPunct="1">
        <a:defRPr sz="176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5pPr>
      <a:lvl6pPr marL="2238316" algn="l" defTabSz="895327" rtl="0" eaLnBrk="1" latinLnBrk="1" hangingPunct="1">
        <a:defRPr sz="176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6pPr>
      <a:lvl7pPr marL="2685980" algn="l" defTabSz="895327" rtl="0" eaLnBrk="1" latinLnBrk="1" hangingPunct="1">
        <a:defRPr sz="176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7pPr>
      <a:lvl8pPr marL="3133643" algn="l" defTabSz="895327" rtl="0" eaLnBrk="1" latinLnBrk="1" hangingPunct="1">
        <a:defRPr sz="176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8pPr>
      <a:lvl9pPr marL="3581306" algn="l" defTabSz="895327" rtl="0" eaLnBrk="1" latinLnBrk="1" hangingPunct="1">
        <a:defRPr sz="176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8665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</p:sldLayoutIdLst>
  <p:txStyles>
    <p:titleStyle>
      <a:lvl1pPr algn="l" defTabSz="829544" rtl="0" eaLnBrk="1" latinLnBrk="1" hangingPunct="1">
        <a:lnSpc>
          <a:spcPct val="90000"/>
        </a:lnSpc>
        <a:spcBef>
          <a:spcPct val="0"/>
        </a:spcBef>
        <a:buNone/>
        <a:defRPr sz="3992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7386" indent="-207386" algn="l" defTabSz="829544" rtl="0" eaLnBrk="1" latinLnBrk="1" hangingPunct="1">
        <a:lnSpc>
          <a:spcPct val="90000"/>
        </a:lnSpc>
        <a:spcBef>
          <a:spcPts val="907"/>
        </a:spcBef>
        <a:buFont typeface="Arial" panose="020B0604020202020204" pitchFamily="34" charset="0"/>
        <a:buChar char="•"/>
        <a:defRPr sz="2540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622158" indent="-207386" algn="l" defTabSz="829544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2177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2pPr>
      <a:lvl3pPr marL="1036930" indent="-207386" algn="l" defTabSz="829544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814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3pPr>
      <a:lvl4pPr marL="1451701" indent="-207386" algn="l" defTabSz="829544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4pPr>
      <a:lvl5pPr marL="1866473" indent="-207386" algn="l" defTabSz="829544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5pPr>
      <a:lvl6pPr marL="2281245" indent="-207386" algn="l" defTabSz="829544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6pPr>
      <a:lvl7pPr marL="2696017" indent="-207386" algn="l" defTabSz="829544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7pPr>
      <a:lvl8pPr marL="3110789" indent="-207386" algn="l" defTabSz="829544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8pPr>
      <a:lvl9pPr marL="3525561" indent="-207386" algn="l" defTabSz="829544" rtl="0" eaLnBrk="1" latinLnBrk="1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>
          <a:ln w="9525" cmpd="sng">
            <a:solidFill>
              <a:srgbClr val="FFFFFF">
                <a:alpha val="0"/>
              </a:srgbClr>
            </a:solidFill>
            <a:prstDash val="solid"/>
          </a:ln>
        </a:defRPr>
      </a:defPPr>
      <a:lvl1pPr marL="0" algn="l" defTabSz="829544" rtl="0" eaLnBrk="1" latinLnBrk="1" hangingPunct="1">
        <a:defRPr sz="163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414772" algn="l" defTabSz="829544" rtl="0" eaLnBrk="1" latinLnBrk="1" hangingPunct="1">
        <a:defRPr sz="163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2pPr>
      <a:lvl3pPr marL="829544" algn="l" defTabSz="829544" rtl="0" eaLnBrk="1" latinLnBrk="1" hangingPunct="1">
        <a:defRPr sz="163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3pPr>
      <a:lvl4pPr marL="1244316" algn="l" defTabSz="829544" rtl="0" eaLnBrk="1" latinLnBrk="1" hangingPunct="1">
        <a:defRPr sz="163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4pPr>
      <a:lvl5pPr marL="1659087" algn="l" defTabSz="829544" rtl="0" eaLnBrk="1" latinLnBrk="1" hangingPunct="1">
        <a:defRPr sz="163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5pPr>
      <a:lvl6pPr marL="2073859" algn="l" defTabSz="829544" rtl="0" eaLnBrk="1" latinLnBrk="1" hangingPunct="1">
        <a:defRPr sz="163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6pPr>
      <a:lvl7pPr marL="2488631" algn="l" defTabSz="829544" rtl="0" eaLnBrk="1" latinLnBrk="1" hangingPunct="1">
        <a:defRPr sz="163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7pPr>
      <a:lvl8pPr marL="2903403" algn="l" defTabSz="829544" rtl="0" eaLnBrk="1" latinLnBrk="1" hangingPunct="1">
        <a:defRPr sz="163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8pPr>
      <a:lvl9pPr marL="3318175" algn="l" defTabSz="829544" rtl="0" eaLnBrk="1" latinLnBrk="1" hangingPunct="1">
        <a:defRPr sz="1633" kern="1200">
          <a:ln w="9525" cmpd="sng">
            <a:solidFill>
              <a:srgbClr val="FFFFFF">
                <a:alpha val="0"/>
              </a:srgbClr>
            </a:solidFill>
            <a:prstDash val="solid"/>
          </a:ln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9174175" cy="6126480"/>
          </a:xfrm>
          <a:prstGeom prst="rect">
            <a:avLst/>
          </a:prstGeom>
          <a:solidFill>
            <a:srgbClr val="0F172A"/>
          </a:solidFill>
          <a:ln w="19050">
            <a:solidFill>
              <a:srgbClr val="007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914400"/>
            <a:ext cx="411480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7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072BA"/>
                </a:solidFill>
                <a:latin typeface="KoPub돋움체 Bold"/>
                <a:ea typeface="KoPub돋움체 Bold"/>
              </a:rPr>
              <a:t>국립중앙의료원(NMC) · 보건복지부 공공보건의료 DX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KoPub돋움체 Bold"/>
                <a:ea typeface="KoPub돋움체 Bold"/>
              </a:rPr>
              <a:t>공공의료 의사결정 지원 플랫폼
시스템 구성도 (System Architecture)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CBD5E1"/>
                </a:solidFill>
                <a:latin typeface="KoPub돋움체 Medium"/>
                <a:ea typeface="KoPub돋움체 Medium"/>
              </a:rPr>
              <a:t>Essential Care Map: 전국 250개 시군구 필수의료 모니터링 &amp; 거점공공병원 AI 종합진단 플랫폼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06240"/>
            <a:ext cx="841248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Bef>
                <a:spcPts val="400"/>
              </a:spcBef>
            </a:pPr>
            <a:r>
              <a:rPr sz="950" b="1">
                <a:solidFill>
                  <a:srgbClr val="F1F5F9"/>
                </a:solidFill>
                <a:latin typeface="KoPub돋움체 Medium"/>
                <a:ea typeface="KoPub돋움체 Medium"/>
              </a:rPr>
              <a:t>• 시스템 버전: v1.29.15 (최신 프로덕션 정식 빌드)</a:t>
            </a:r>
          </a:p>
          <a:p>
            <a:pPr>
              <a:spcBef>
                <a:spcPts val="400"/>
              </a:spcBef>
            </a:pPr>
            <a:r>
              <a:rPr sz="950" b="0">
                <a:solidFill>
                  <a:srgbClr val="F1F5F9"/>
                </a:solidFill>
                <a:latin typeface="KoPub돋움체 Medium"/>
                <a:ea typeface="KoPub돋움체 Medium"/>
              </a:rPr>
              <a:t>• 주요 서비스: 대국민 안심의료 실시간 병상 연계 / 거점공공병원 AI 종합진단 / 법정 사업계획서(HWPX) 자동화</a:t>
            </a:r>
          </a:p>
          <a:p>
            <a:pPr>
              <a:spcBef>
                <a:spcPts val="400"/>
              </a:spcBef>
            </a:pPr>
            <a:r>
              <a:rPr sz="950" b="0">
                <a:solidFill>
                  <a:srgbClr val="F1F5F9"/>
                </a:solidFill>
                <a:latin typeface="KoPub돋움체 Medium"/>
                <a:ea typeface="KoPub돋움체 Medium"/>
              </a:rPr>
              <a:t>• 핵심 아키텍처: 5-Tier Hybrid Cloud &amp; On-Premise Dual AI Architecture (Next.js 16 + E-Gen OpenAPI + Gemini)</a:t>
            </a:r>
          </a:p>
          <a:p>
            <a:pPr>
              <a:spcBef>
                <a:spcPts val="400"/>
              </a:spcBef>
            </a:pPr>
            <a:r>
              <a:rPr sz="950" b="0">
                <a:solidFill>
                  <a:srgbClr val="F1F5F9"/>
                </a:solidFill>
                <a:latin typeface="KoPub돋움체 Medium"/>
                <a:ea typeface="KoPub돋움체 Medium"/>
              </a:rPr>
              <a:t>• 주관 부처/기관: 보건복지부 공공보건의료정책과 · 국립중앙의료원(NMC) 중앙응급의료센터 / 공공보건의료지원센터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sz="1100" b="1">
                <a:solidFill>
                  <a:srgbClr val="224F77"/>
                </a:solidFill>
                <a:latin typeface="KoPub돋움체 Bold"/>
                <a:ea typeface="KoPub돋움체 Bold"/>
              </a:rPr>
              <a:t>사용자 채널(3대 역할) ➔ 5대 핵심 워크스페이스 ➔ Dual AI &amp; RAG 엔진 ➔ 국가 데이터 파이프라인 ➔ 보안·인프라 및 공문서 출력을 유기적으로 연결한 종합 구성도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500" b="1">
                <a:solidFill>
                  <a:srgbClr val="1E3A8A"/>
                </a:solidFill>
                <a:latin typeface="KoPub돋움체 Bold"/>
                <a:ea typeface="KoPub돋움체 Bold"/>
              </a:rPr>
              <a:t>[총괄] 원페이지 통합 시스템 구성도 (One-Page Total Architecture Map)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050" b="1">
                <a:solidFill>
                  <a:srgbClr val="0072BA"/>
                </a:solidFill>
                <a:latin typeface="KoPub돋움체 Bold"/>
                <a:ea typeface="KoPub돋움체 Bold"/>
              </a:rPr>
              <a:t>총괄 아키텍처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35024"/>
            <a:ext cx="2907792" cy="658368"/>
          </a:xfrm>
          <a:prstGeom prst="roundRect">
            <a:avLst/>
          </a:prstGeom>
          <a:solidFill>
            <a:srgbClr val="FEF2F2"/>
          </a:solidFill>
          <a:ln w="63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900" b="1">
                <a:solidFill>
                  <a:srgbClr val="E11D48"/>
                </a:solidFill>
                <a:latin typeface="KoPub돋움체 Bold"/>
                <a:ea typeface="KoPub돋움체 Bold"/>
              </a:rPr>
              <a:t>👨‍👩‍👧 국민 (일반시민·환자)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0F172A"/>
                </a:solidFill>
                <a:latin typeface="KoPub돋움체 Medium"/>
                <a:ea typeface="KoPub돋움체 Medium"/>
              </a:rPr>
              <a:t>내 주변 실시간 안심의료 검색 · 114개 달빛소아/약국
E-Gen 병상 연동 · 3단계 바텀시트 · AI 비서 (로그인 불필요)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335024"/>
            <a:ext cx="3090672" cy="658368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007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900" b="1">
                <a:solidFill>
                  <a:srgbClr val="1E3A8A"/>
                </a:solidFill>
                <a:latin typeface="KoPub돋움체 Bold"/>
                <a:ea typeface="KoPub돋움체 Bold"/>
              </a:rPr>
              <a:t>🏥 의료기관 담당자 (41개 거점공공병원)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0F172A"/>
                </a:solidFill>
                <a:latin typeface="KoPub돋움체 Medium"/>
                <a:ea typeface="KoPub돋움체 Medium"/>
              </a:rPr>
              <a:t>AI 종합진단 · 6대 영역 원인분석 · NMC 5종 프로파일(HWP)
복지부 12대 계획서(HWPX) · 신포괄 1.0% 정책가산 · 71개 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47104" y="1335024"/>
            <a:ext cx="2990088" cy="658368"/>
          </a:xfrm>
          <a:prstGeom prst="roundRect">
            <a:avLst/>
          </a:prstGeom>
          <a:solidFill>
            <a:srgbClr val="F5F3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900" b="1">
                <a:solidFill>
                  <a:srgbClr val="7C3AED"/>
                </a:solidFill>
                <a:latin typeface="KoPub돋움체 Bold"/>
                <a:ea typeface="KoPub돋움체 Bold"/>
              </a:rPr>
              <a:t>🏛️ NMC 정책관 (중앙응급센터·지원단)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0F172A"/>
                </a:solidFill>
                <a:latin typeface="KoPub돋움체 Medium"/>
                <a:ea typeface="KoPub돋움체 Medium"/>
              </a:rPr>
              <a:t>250개 시군구 35:65 GIS 거시 관제 · 골든타임 사각지대
35개소 경영위기 조기경보 · 14대 공시 사전검증 · 시도 100점 심사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48256"/>
            <a:ext cx="6263640" cy="256032"/>
          </a:xfrm>
          <a:prstGeom prst="rect">
            <a:avLst/>
          </a:prstGeom>
          <a:solidFill>
            <a:srgbClr val="0072B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Application &amp; Service Tier: 5대 핵심 워크스페이스 &amp; 18대 세부 모듈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04288"/>
            <a:ext cx="62636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" y="2340864"/>
            <a:ext cx="1965960" cy="13258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900" b="1">
                <a:solidFill>
                  <a:srgbClr val="E11D48"/>
                </a:solidFill>
                <a:latin typeface="KoPub돋움체 Bold"/>
                <a:ea typeface="KoPub돋움체 Bold"/>
              </a:rPr>
              <a:t>① 대국민 안심의료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0F172A"/>
                </a:solidFill>
                <a:latin typeface="KoPub돋움체 Medium"/>
                <a:ea typeface="KoPub돋움체 Medium"/>
              </a:rPr>
              <a:t>• E-Gen 5분 실시간 병상 연계
• 5대 특화(응급/소아/분만/약국/입원)
• 카카오맵 실시간 길찾기 &amp; 119
• 모바일 3단계 바텀시트 UI
• 자연어 대화형 AI 증상 비서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7168" y="2340864"/>
            <a:ext cx="1965960" cy="13258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900" b="1">
                <a:solidFill>
                  <a:srgbClr val="0072BA"/>
                </a:solidFill>
                <a:latin typeface="KoPub돋움체 Bold"/>
                <a:ea typeface="KoPub돋움체 Bold"/>
              </a:rPr>
              <a:t>② AI 병원 종합진단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0F172A"/>
                </a:solidFill>
                <a:latin typeface="KoPub돋움체 Medium"/>
                <a:ea typeface="KoPub돋움체 Medium"/>
              </a:rPr>
              <a:t>• 41개 공공병원 6대 지표 점수화
• 3줄 요약 핵심 원인분석 리포트
• NMC 공식 5종 진단보고서(HWP)
• 시군구 환자 유출입(Top5) 분석
• 진료실적 및 의료질 평가 연계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5424" y="2340864"/>
            <a:ext cx="2011680" cy="13258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900" b="1">
                <a:solidFill>
                  <a:srgbClr val="059669"/>
                </a:solidFill>
                <a:latin typeface="KoPub돋움체 Bold"/>
                <a:ea typeface="KoPub돋움체 Bold"/>
              </a:rPr>
              <a:t>③ 의료기관 자원관리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신포괄 정책가산 계산기 (1.0%)
• 연간 추가수익 경영 시뮬레이션
• 71개 공인 표준진료지침(CP)
• 표준재원일수 초과 변이(ROI)
• 4단계 퇴원환자 연계의뢰서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3730752"/>
            <a:ext cx="3017520" cy="1243584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900" b="1">
                <a:solidFill>
                  <a:srgbClr val="1E3A8A"/>
                </a:solidFill>
                <a:latin typeface="KoPub돋움체 Bold"/>
                <a:ea typeface="KoPub돋움체 Bold"/>
              </a:rPr>
              <a:t>④ 전국 헬스맵 35:65 GIS 관제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전국 250개 시군구 거시 취약도 맵 &amp; 7대 필수의료 레이어
• 응급 30분 / 분만 60분 골든타임 사각지대 정밀 자동 판정
• 전국 214개 공공병원 통합 데이터센터 자원 총람 모니터링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9584" y="3730752"/>
            <a:ext cx="3017520" cy="1243584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900" b="1">
                <a:solidFill>
                  <a:srgbClr val="7C3AED"/>
                </a:solidFill>
                <a:latin typeface="KoPub돋움체 Bold"/>
                <a:ea typeface="KoPub돋움체 Bold"/>
              </a:rPr>
              <a:t>⑤ 정책기획 &amp; 공시 사전검증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복지부 12대 항목 법정 사업계획서(HWPX) 10초 원클릭 자동완결
• 17개 시도·8개 부처 시행계획 AI 100점 심사의견서 산출
• 35개 지방의료원 경영위기 4단계 조기경보 &amp; 14대 공시검증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2048256"/>
            <a:ext cx="2816352" cy="256032"/>
          </a:xfrm>
          <a:prstGeom prst="rect">
            <a:avLst/>
          </a:prstGeom>
          <a:solidFill>
            <a:srgbClr val="7C3AE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Dual AI &amp; Knowledge Tier: 지능형 추론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2304288"/>
            <a:ext cx="2816352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00" b="0">
                <a:solidFill>
                  <a:srgbClr val="0F172A"/>
                </a:solidFill>
                <a:latin typeface="KoPub돋움체 Medium"/>
                <a:ea typeface="KoPub돋움체 Medium"/>
              </a:rPr>
              <a:t>[Cloud Multi-LLM: Gemini Pro / Flash]</a:t>
            </a:r>
          </a:p>
          <a:p>
            <a:pPr algn="l">
              <a:spcAft>
                <a:spcPts val="150"/>
              </a:spcAft>
            </a:pPr>
            <a:r>
              <a:rPr sz="800" b="0">
                <a:solidFill>
                  <a:srgbClr val="0F172A"/>
                </a:solidFill>
                <a:latin typeface="KoPub돋움체 Medium"/>
                <a:ea typeface="KoPub돋움체 Medium"/>
              </a:rPr>
              <a:t>• 대규모 거시 정책대안(Option A/B/C) 추론</a:t>
            </a:r>
          </a:p>
          <a:p>
            <a:pPr algn="l">
              <a:spcAft>
                <a:spcPts val="150"/>
              </a:spcAft>
            </a:pPr>
            <a:r>
              <a:rPr sz="800" b="0">
                <a:solidFill>
                  <a:srgbClr val="0F172A"/>
                </a:solidFill>
                <a:latin typeface="KoPub돋움체 Medium"/>
                <a:ea typeface="KoPub돋움체 Medium"/>
              </a:rPr>
              <a:t>• 2030 미래의료수요 추계 시뮬레이션</a:t>
            </a:r>
          </a:p>
          <a:p>
            <a:pPr algn="l">
              <a:spcAft>
                <a:spcPts val="150"/>
              </a:spcAft>
            </a:pPr>
            <a:r>
              <a:rPr sz="800" b="0">
                <a:solidFill>
                  <a:srgbClr val="0F172A"/>
                </a:solidFill>
                <a:latin typeface="KoPub돋움체 Medium"/>
                <a:ea typeface="KoPub돋움체 Medium"/>
              </a:rPr>
              <a:t>• 12대 장문 법정 사업계획서 초안 생성</a:t>
            </a:r>
          </a:p>
          <a:p>
            <a:pPr algn="l">
              <a:spcAft>
                <a:spcPts val="150"/>
              </a:spcAft>
            </a:pPr>
            <a:r>
              <a:rPr sz="800" b="0">
                <a:solidFill>
                  <a:srgbClr val="0F172A"/>
                </a:solidFill>
                <a:latin typeface="KoPub돋움체 Medium"/>
                <a:ea typeface="KoPub돋움체 Medium"/>
              </a:rPr>
              <a:t>• 비식별 통계 기반 다차원 벤치마킹</a:t>
            </a:r>
          </a:p>
          <a:p>
            <a:pPr algn="l">
              <a:spcAft>
                <a:spcPts val="150"/>
              </a:spcAft>
            </a:pPr>
            <a:r>
              <a:rPr sz="80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00" b="0">
                <a:solidFill>
                  <a:srgbClr val="0F172A"/>
                </a:solidFill>
                <a:latin typeface="KoPub돋움체 Medium"/>
                <a:ea typeface="KoPub돋움체 Medium"/>
              </a:rPr>
              <a:t>[On-Premise Local sLLM: 원내 폐쇄망]</a:t>
            </a:r>
          </a:p>
          <a:p>
            <a:pPr algn="l">
              <a:spcAft>
                <a:spcPts val="150"/>
              </a:spcAft>
            </a:pPr>
            <a:r>
              <a:rPr sz="800" b="0">
                <a:solidFill>
                  <a:srgbClr val="0F172A"/>
                </a:solidFill>
                <a:latin typeface="KoPub돋움체 Medium"/>
                <a:ea typeface="KoPub돋움체 Medium"/>
              </a:rPr>
              <a:t>• 민감 환자 데이터 질의 및 내부 회계 분석</a:t>
            </a:r>
          </a:p>
          <a:p>
            <a:pPr algn="l">
              <a:spcAft>
                <a:spcPts val="150"/>
              </a:spcAft>
            </a:pPr>
            <a:r>
              <a:rPr sz="800" b="0">
                <a:solidFill>
                  <a:srgbClr val="0F172A"/>
                </a:solidFill>
                <a:latin typeface="KoPub돋움체 Medium"/>
                <a:ea typeface="KoPub돋움체 Medium"/>
              </a:rPr>
              <a:t>• 외부 네트워크 차단 독립 구동 (유출 0%)</a:t>
            </a:r>
          </a:p>
          <a:p>
            <a:pPr algn="l">
              <a:spcAft>
                <a:spcPts val="150"/>
              </a:spcAft>
            </a:pPr>
            <a:r>
              <a:rPr sz="80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00" b="0">
                <a:solidFill>
                  <a:srgbClr val="0F172A"/>
                </a:solidFill>
                <a:latin typeface="KoPub돋움체 Medium"/>
                <a:ea typeface="KoPub돋움체 Medium"/>
              </a:rPr>
              <a:t>[환각 제로 Grounding RAG &amp; 보안]</a:t>
            </a:r>
          </a:p>
          <a:p>
            <a:pPr algn="l">
              <a:spcAft>
                <a:spcPts val="150"/>
              </a:spcAft>
            </a:pPr>
            <a:r>
              <a:rPr sz="800" b="0">
                <a:solidFill>
                  <a:srgbClr val="0F172A"/>
                </a:solidFill>
                <a:latin typeface="KoPub돋움체 Medium"/>
                <a:ea typeface="KoPub돋움체 Medium"/>
              </a:rPr>
              <a:t>• 1,000쪽 법령·지침 원문 1:1 근거 대조</a:t>
            </a:r>
          </a:p>
          <a:p>
            <a:pPr algn="l">
              <a:spcAft>
                <a:spcPts val="150"/>
              </a:spcAft>
            </a:pPr>
            <a:r>
              <a:rPr sz="800" b="0">
                <a:solidFill>
                  <a:srgbClr val="0F172A"/>
                </a:solidFill>
                <a:latin typeface="KoPub돋움체 Medium"/>
                <a:ea typeface="KoPub돋움체 Medium"/>
              </a:rPr>
              <a:t>• PII 개인식별정보(주민/연락처) 자동 마스킹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02352"/>
            <a:ext cx="5394960" cy="219456"/>
          </a:xfrm>
          <a:prstGeom prst="rect">
            <a:avLst/>
          </a:prstGeom>
          <a:solidFill>
            <a:srgbClr val="05966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Data Hub: 국가 공공보건의료 원천 데이터 파이프라인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321808"/>
            <a:ext cx="53949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0624" y="5358384"/>
            <a:ext cx="1261872" cy="804672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900" b="1">
                <a:solidFill>
                  <a:srgbClr val="059669"/>
                </a:solidFill>
                <a:latin typeface="KoPub돋움체 Bold"/>
                <a:ea typeface="KoPub돋움체 Bold"/>
              </a:rPr>
              <a:t>1. E-Gen 실시간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0F172A"/>
                </a:solidFill>
                <a:latin typeface="KoPub돋움체 Medium"/>
                <a:ea typeface="KoPub돋움체 Medium"/>
              </a:rPr>
              <a:t>5분 주기 OpenAPI
응급·소아·ICU 병상
CT/MRI 가동 상태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19072" y="5358384"/>
            <a:ext cx="1261872" cy="804672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900" b="1">
                <a:solidFill>
                  <a:srgbClr val="059669"/>
                </a:solidFill>
                <a:latin typeface="KoPub돋움체 Bold"/>
                <a:ea typeface="KoPub돋움체 Bold"/>
              </a:rPr>
              <a:t>2. HIRA 심평원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0F172A"/>
                </a:solidFill>
                <a:latin typeface="KoPub돋움체 Medium"/>
                <a:ea typeface="KoPub돋움체 Medium"/>
              </a:rPr>
              <a:t>분만 청구 실적 통계
적정성 1등급 지표
의료인력/장비 마스터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5358384"/>
            <a:ext cx="1280160" cy="804672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900" b="1">
                <a:solidFill>
                  <a:srgbClr val="059669"/>
                </a:solidFill>
                <a:latin typeface="KoPub돋움체 Bold"/>
                <a:ea typeface="KoPub돋움체 Bold"/>
              </a:rPr>
              <a:t>3. KOSIS 통계청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0F172A"/>
                </a:solidFill>
                <a:latin typeface="KoPub돋움체 Medium"/>
                <a:ea typeface="KoPub돋움체 Medium"/>
              </a:rPr>
              <a:t>250개 시군구 인구
고령화율/인구밀도
장래인구추계 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4256" y="5358384"/>
            <a:ext cx="1353312" cy="804672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900" b="1">
                <a:solidFill>
                  <a:srgbClr val="059669"/>
                </a:solidFill>
                <a:latin typeface="KoPub돋움체 Bold"/>
                <a:ea typeface="KoPub돋움체 Bold"/>
              </a:rPr>
              <a:t>4. 공공병원 알리미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0F172A"/>
                </a:solidFill>
                <a:latin typeface="KoPub돋움체 Medium"/>
                <a:ea typeface="KoPub돋움체 Medium"/>
              </a:rPr>
              <a:t>41개 거점공공병원
3개년 결산서/재무제표
원천 CSV 업로더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5102352"/>
            <a:ext cx="3685032" cy="219456"/>
          </a:xfrm>
          <a:prstGeom prst="rect">
            <a:avLst/>
          </a:prstGeom>
          <a:solidFill>
            <a:srgbClr val="47556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Infrastructure &amp; Official Output: 보안 및 산출물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5321808"/>
            <a:ext cx="368503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00" b="0">
                <a:solidFill>
                  <a:srgbClr val="0F172A"/>
                </a:solidFill>
                <a:latin typeface="KoPub돋움체 Medium"/>
                <a:ea typeface="KoPub돋움체 Medium"/>
              </a:rPr>
              <a:t>• [웹/보안]: Next.js 16 (Turbopack), Vercel Serverless / Edge CDN, HttpOnly 세션 쿠키, 5회 로그인 연속 실패 시 계정 잠금</a:t>
            </a:r>
          </a:p>
          <a:p>
            <a:pPr algn="l">
              <a:spcAft>
                <a:spcPts val="150"/>
              </a:spcAft>
            </a:pPr>
            <a:r>
              <a:rPr sz="800" b="0">
                <a:solidFill>
                  <a:srgbClr val="0F172A"/>
                </a:solidFill>
                <a:latin typeface="KoPub돋움체 Medium"/>
                <a:ea typeface="KoPub돋움체 Medium"/>
              </a:rPr>
              <a:t>• [공식 법정 산출물]: 복지부 12대 사업계획서(HWPX) · NMC 5종 진단보고서(HWP) · NMC 표준 3종 엑셀 마스터 원클릭 자동 발급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sz="1100" b="1">
                <a:solidFill>
                  <a:srgbClr val="224F77"/>
                </a:solidFill>
                <a:latin typeface="KoPub돋움체 Bold"/>
                <a:ea typeface="KoPub돋움체 Bold"/>
              </a:rPr>
              <a:t>대국민 24시간 안심의료와 41개 거점공공병원 AI 종합진단, 전국 250개 시군구 거시 관제를 유기적으로 연계하는 5-Tier 하이브리드 아키텍처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500" b="1">
                <a:solidFill>
                  <a:srgbClr val="1E3A8A"/>
                </a:solidFill>
                <a:latin typeface="KoPub돋움체 Bold"/>
                <a:ea typeface="KoPub돋움체 Bold"/>
              </a:rPr>
              <a:t>1. 계층별 시스템 아키텍처 총괄도 (5-Tier Layered Architecture)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050" b="1">
                <a:solidFill>
                  <a:srgbClr val="0072BA"/>
                </a:solidFill>
                <a:latin typeface="KoPub돋움체 Bold"/>
                <a:ea typeface="KoPub돋움체 Bold"/>
              </a:rPr>
              <a:t>1. 계층별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9144000" cy="292608"/>
          </a:xfrm>
          <a:prstGeom prst="rect">
            <a:avLst/>
          </a:prstGeom>
          <a:solidFill>
            <a:srgbClr val="1E3A8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1. User Presentation Tier (3대 대상자별 맞춤 인터페이스)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64208"/>
            <a:ext cx="9144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[👨‍👩‍👧 국민]: 모바일/웹 안심의료 지도, E-Gen 실시간 병상 연계, 국민안심 AI 증상 질의응답, 3단계 바텀시트 UI (로그인 불필요)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[🏥 의료기관 담당자]: 41개 거점공공병원 AI 종합진단, 5종 프로파일 보고서(HWP), 12대 항목 법정 사업계획서(HWPX), 신포괄 정책가산(1.0%)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[🏛️ NMC 업무 담당자]: 전국 250개 시군구 35:65 양방향 GIS 취약도 관제, 35개 지방의료원 경영위기 조기경보, 14대 알리미 공시 사전검증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04288"/>
            <a:ext cx="9144000" cy="292608"/>
          </a:xfrm>
          <a:prstGeom prst="rect">
            <a:avLst/>
          </a:prstGeom>
          <a:solidFill>
            <a:srgbClr val="0072B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2. Application &amp; Business Logic Tier (5대 핵심 워크스페이스 &amp; 전문 엔진)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96896"/>
            <a:ext cx="9144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[국민안심 서비스]: 5대 안심의료 필터(응급·소아·분만·야간약국·입원), E-Gen 실시간 병상 연동, Leaflet 동적 지오로케이션 맵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[AI 병원진단·개선]: 6대 지표 종합점수 엔진, 3줄 요약 원인분석, 환자 유출입(OD) 분석, 2030 미래수요 추계, 71개 CP 라이브러리/ROI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[정책기획 &amp; 공시검증]: 12대 법정 사업계획서 자동완결, 시도 시행계획 AI 100점 심사, 14대 회계산출식 검증, PII 비식별화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28416"/>
            <a:ext cx="9144000" cy="292608"/>
          </a:xfrm>
          <a:prstGeom prst="rect">
            <a:avLst/>
          </a:prstGeom>
          <a:solidFill>
            <a:srgbClr val="7C3AE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3. Dual AI Inference &amp; RAG Knowledge Tier (하이브리드 지능형 추론 엔진)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21024"/>
            <a:ext cx="9144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[Cloud Multi-LLM]: Google Gemini 2.5 Pro / Flash 기반 거시 정책대안(Option A/B/C) 추론, 다차원 벤치마킹, 장문 기획서 자동 생성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[On-Premise Local sLLM]: 원내 폐쇄망 경량 모델 연계(환자 진료 데이터 및 내부 회계자료 보안 처리, 외부 유출 0% 보장)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[Grounding &amp; RAG]: 1,000쪽 분량의 공공보건의료 법령, 신포괄 지침서 임베딩 벡터 코퍼스 기반 환각 제로(Zero Hallucination) 원문 대조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315968"/>
            <a:ext cx="9144000" cy="292608"/>
          </a:xfrm>
          <a:prstGeom prst="rect">
            <a:avLst/>
          </a:prstGeom>
          <a:solidFill>
            <a:srgbClr val="05966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4. Data Hub &amp; Integration Tier (국가 공공보건의료 원천 데이터 파이프라인)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608576"/>
            <a:ext cx="91440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[중앙응급의료센터 E-Gen OpenAPI]: 전국 응급실/중환자실/소아과 실시간 가용병상 및 CT/MRI/인공호흡기 가동 5분 주기 실시간 수신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[건강보험심사평가원(HIRA)]: 전국 분만실 청구 실적, 적정성 평가 1등급 통계, 의료인력/장비 데이터 연계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[통계청(KOSIS) &amp; 알리미 공시]: 250개 시군구 장래인구추계, 고령화율 통계 / 41개 거점공공병원 3개년 결산서 및 재무상태표 마스터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276088"/>
            <a:ext cx="9144000" cy="292608"/>
          </a:xfrm>
          <a:prstGeom prst="rect">
            <a:avLst/>
          </a:prstGeom>
          <a:solidFill>
            <a:srgbClr val="47556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5. Infrastructure &amp; Security Governance Tier (클라우드 인프라 및 보안 체계)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568696"/>
            <a:ext cx="9144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[웹 프레임워크]: Next.js 16.3 (Turbopack 빌드), React 19, Tailwind CSS, Vercel Serverless / Edge 글로벌 분산 CDN 배포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[보안 및 거버넌스]: HttpOnly 세션 쿠키, 로그인 시도 5회 잠금, 주민번호/전화번호 PII 정규식 마스킹, API Key 암호화 저장소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[문서 생성 표준]: HWP/HWPX(OWPML) 표준 바이너리 변환기, SheetJS 엑셀 파서, Leaflet Canvas 렌더러 탑재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sz="1100" b="1">
                <a:solidFill>
                  <a:srgbClr val="224F77"/>
                </a:solidFill>
                <a:latin typeface="KoPub돋움체 Bold"/>
                <a:ea typeface="KoPub돋움체 Bold"/>
              </a:rPr>
              <a:t>대국민 실시간 서비스부터 공공병원 경영진단, 정부 법정 서식 자동 발급까지 5대 영역 18대 핵심 모듈 완비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500" b="1">
                <a:solidFill>
                  <a:srgbClr val="1E3A8A"/>
                </a:solidFill>
                <a:latin typeface="KoPub돋움체 Bold"/>
                <a:ea typeface="KoPub돋움체 Bold"/>
              </a:rPr>
              <a:t>2. 기능 구성도 (Functional Architecture Map)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050" b="1">
                <a:solidFill>
                  <a:srgbClr val="0072BA"/>
                </a:solidFill>
                <a:latin typeface="KoPub돋움체 Bold"/>
                <a:ea typeface="KoPub돋움체 Bold"/>
              </a:rPr>
              <a:t>2. 기능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755648" cy="320040"/>
          </a:xfrm>
          <a:prstGeom prst="rect">
            <a:avLst/>
          </a:prstGeom>
          <a:solidFill>
            <a:srgbClr val="0072B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① 대국민 안심의료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1755648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[실시간 병상 연계]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E-Gen 5분 단위 연계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응급·소아·ICU 병상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CT/MRI 장비 가동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[5대 특화 의료 검색]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🚨 24시간 응급실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👶 달빛소아(114곳)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🤰 분만산부인과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🌙 야간/휴일 당번약국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🛏️ 안심 격리음압병상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[모바일 특화 UX]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3단계 바텀시트 UI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원클릭 119/전화걸기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카카오맵 실시간 길찾기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AI 증상 동행상담 비서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1371600"/>
            <a:ext cx="1755648" cy="320040"/>
          </a:xfrm>
          <a:prstGeom prst="rect">
            <a:avLst/>
          </a:prstGeom>
          <a:solidFill>
            <a:srgbClr val="224F77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② AI 병원 종합진단</a:t>
            </a:r>
          </a:p>
        </p:txBody>
      </p:sp>
      <p:sp>
        <p:nvSpPr>
          <p:cNvPr id="9" name="Rectangle 8"/>
          <p:cNvSpPr/>
          <p:nvPr/>
        </p:nvSpPr>
        <p:spPr>
          <a:xfrm>
            <a:off x="2212848" y="1691640"/>
            <a:ext cx="1755648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[41개 거점공공병원]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35개 지방의료원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6개 적십자병원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[6대 핵심 영역 진단]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필수의료 제공 역량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재무·경영 건전성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의료 질 및 환자안전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책임의료 협력체계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의료인력 충원율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지자체 지원 연계도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[AI 심층 원인분석]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3줄 요약 핵심 브리프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NMC 공식 5종 진단서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HWP 공문서 자동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59936" y="1371600"/>
            <a:ext cx="1755648" cy="320040"/>
          </a:xfrm>
          <a:prstGeom prst="rect">
            <a:avLst/>
          </a:prstGeom>
          <a:solidFill>
            <a:srgbClr val="05966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③ 의료기관 자원관리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9936" y="1691640"/>
            <a:ext cx="1755648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[신포괄 정책가산]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CP 가산율 1.0% 계산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연간 추가수익 시뮬레이션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경영진 보고 브리프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[71개 CP 라이브러리]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NMC 공인 표준진료지침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다빈도 질환 표준경로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EMR/OCS 서식 매핑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[변이(ROI) &amp; 퇴원돌봄]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표준재원일수 초과 분석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병상회전율 재정효과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4단계 퇴원지원 평가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보건복지 연계의뢰서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7024" y="1371600"/>
            <a:ext cx="1755648" cy="320040"/>
          </a:xfrm>
          <a:prstGeom prst="rect">
            <a:avLst/>
          </a:prstGeom>
          <a:solidFill>
            <a:srgbClr val="1E3A8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④ 전국 헬스맵 관제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07024" y="1691640"/>
            <a:ext cx="1755648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[전국 250개 시군구]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35:65 양방향 GIS 맵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7대 필수의료 레이어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거시 취약지수 랭킹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[골든타임 사각지대]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응급 30분 미도달율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분만 60분 미도달율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4단계 취약등급 판정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[214개 공공병원]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데이터센터 통합 관제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전국 의료자원 총람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NMC 표준 3종 엑셀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원천 CSV 업로더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54112" y="1371600"/>
            <a:ext cx="1755648" cy="320040"/>
          </a:xfrm>
          <a:prstGeom prst="rect">
            <a:avLst/>
          </a:prstGeom>
          <a:solidFill>
            <a:srgbClr val="7C3AE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⑤ 정책기획 &amp; 평가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112" y="1691640"/>
            <a:ext cx="1755648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[법정 사업계획서]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복지부 12대 법정 목차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국고보조 공모 신청용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HWPX 공문서 자동화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[미래의료수요 추계]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2030 인구고령화 반영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유사 지자체 벤치마크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AI 정책대안 A/B/C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[경영위기 &amp; 공시검증]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35개소 조기경보 4단계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14대 회계산출식 검증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시도 시행계획 100점 심사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PII 비식별화 소명서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sz="1100" b="1">
                <a:solidFill>
                  <a:srgbClr val="224F77"/>
                </a:solidFill>
                <a:latin typeface="KoPub돋움체 Bold"/>
                <a:ea typeface="KoPub돋움체 Bold"/>
              </a:rPr>
              <a:t>중앙응급의료센터 E-Gen 및 심평원·통계청 데이터를 실시간·배치 수집하여 AI 검증을 거친 후 표준 HWPX/엑셀 공문서로 출력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500" b="1">
                <a:solidFill>
                  <a:srgbClr val="1E3A8A"/>
                </a:solidFill>
                <a:latin typeface="KoPub돋움체 Bold"/>
                <a:ea typeface="KoPub돋움체 Bold"/>
              </a:rPr>
              <a:t>3. 데이터 흐름 및 연계 구성도 (Data Flow &amp; Interface Architecture)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050" b="1">
                <a:solidFill>
                  <a:srgbClr val="0072BA"/>
                </a:solidFill>
                <a:latin typeface="KoPub돋움체 Bold"/>
                <a:ea typeface="KoPub돋움체 Bold"/>
              </a:rPr>
              <a:t>3. 데이터 연계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057400" cy="320040"/>
          </a:xfrm>
          <a:prstGeom prst="rect">
            <a:avLst/>
          </a:prstGeom>
          <a:solidFill>
            <a:srgbClr val="0072B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STEP 1. 데이터 수집/연계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2057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1. 국립중앙의료원 E-Gen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실시간 OpenAPI (5분)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응급·소아·중환자실 병상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CT/MRI 장비 가동 상태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2. 건강보험심사평가원(HIRA)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분만 청구 실적 데이터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적정성 평가 1등급 통계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의료인력/장비 현황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3. 통계청(KOSIS)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250개 시군구 장래인구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고령화율 및 인구밀도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4. 공공병원 알리미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41개 거점병원 3개년 결산서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원천 CSV/Excel 업로드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371600"/>
            <a:ext cx="2057400" cy="320040"/>
          </a:xfrm>
          <a:prstGeom prst="rect">
            <a:avLst/>
          </a:prstGeom>
          <a:solidFill>
            <a:srgbClr val="224F77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STEP 2. 전처리 &amp; 사전검증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691640"/>
            <a:ext cx="2057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1. 14대 회계산출식 정밀검증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부채비율, 의업수지비율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인건비율, 병상당 의료수익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1원 단위 교차 검증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2. PII 개인정보 비식별화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주민번호, 환자 등록번호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휴대전화 정규식 전수 탐지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실시간 마스킹(***) 처리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3. 데이터 정규화 &amp; 지오코딩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214개 공공병원 WGS84 좌표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시군구 행정경계 GeoJSON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E-Gen 기관코드 매핑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371600"/>
            <a:ext cx="2057400" cy="320040"/>
          </a:xfrm>
          <a:prstGeom prst="rect">
            <a:avLst/>
          </a:prstGeom>
          <a:solidFill>
            <a:srgbClr val="7C3AE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STEP 3. AI 분석 &amp; 엔진 추론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691640"/>
            <a:ext cx="2057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1. 거시 공간 분석 (GIS)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35:65 양방향 GIS 맵 연산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30분/60분 골든타임 사각지대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거시 취약등급 4단계 판정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2. 미시 병원진단 &amp; 시뮬레이션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6대 영역 종합점수 산출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신포괄 정책가산 1.0% 산출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71개 CP 변이(ROI) 계산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3. Dual AI 추론 &amp; RAG 대조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Cloud Gemini Pro 기획서 추론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On-Premise 폐쇄망 sLLM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1,000쪽 법령 1:1 Grounding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371600"/>
            <a:ext cx="2057400" cy="320040"/>
          </a:xfrm>
          <a:prstGeom prst="rect">
            <a:avLst/>
          </a:prstGeom>
          <a:solidFill>
            <a:srgbClr val="05966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STEP 4. 출력 &amp; 대국민 서비스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691640"/>
            <a:ext cx="2057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1. 대국민 안심의료 서비스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모바일 3단계 바텀시트 UI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실시간 병상 안내 &amp; 지도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카카오맵 길찾기 &amp; 119 직통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AI 증상 동행상담 비서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2. 공식 법정 문서 자동 발급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복지부 12대 사업계획서(HWPX)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NMC 5종 진단보고서(HWP)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알리미 공시 소명서(HWP)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퇴원환자 보건복지 연계의뢰서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3. 정책 통계 데이터 마스터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NMC 표준 3종 엑셀 일괄추출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시도 시행계획 AI 심사의견서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sz="1100" b="1">
                <a:solidFill>
                  <a:srgbClr val="224F77"/>
                </a:solidFill>
                <a:latin typeface="KoPub돋움체 Bold"/>
                <a:ea typeface="KoPub돋움체 Bold"/>
              </a:rPr>
              <a:t>클라우드 초고성능 추론과 원내 폐쇄망 보안을 양립시키는 듀얼 AI 및 3단계 환각 제로 검증 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500" b="1">
                <a:solidFill>
                  <a:srgbClr val="1E3A8A"/>
                </a:solidFill>
                <a:latin typeface="KoPub돋움체 Bold"/>
                <a:ea typeface="KoPub돋움체 Bold"/>
              </a:rPr>
              <a:t>4. AI &amp; 보안 아키텍처 (Dual AI &amp; Security Architecture)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050" b="1">
                <a:solidFill>
                  <a:srgbClr val="0072BA"/>
                </a:solidFill>
                <a:latin typeface="KoPub돋움체 Bold"/>
                <a:ea typeface="KoPub돋움체 Bold"/>
              </a:rPr>
              <a:t>4. AI 및 보안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4462272" cy="320040"/>
          </a:xfrm>
          <a:prstGeom prst="rect">
            <a:avLst/>
          </a:prstGeom>
          <a:solidFill>
            <a:srgbClr val="7C3AE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A. Dual AI 하이브리드 엔진 (Cloud vs On-Premise)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4462272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1. [Cloud Multi-LLM: Google Gemini 2.5 Pro / Flash]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담당 업무: 전국 단위 거시 통계 분석, 2030 미래수요 추계, 복합 정책대안 도출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강점: 초고성능 다차원 벤치마킹, 방대한 장문 서식 및 12대 사업계획서 초안 생성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전송 데이터: 비식별화된 집계 통계(Summary Data)만 전송하여 외부 유출 원천 방지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2. [On-Premise Local sLLM: 원내 폐쇄망 경량 모델]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담당 업무: 민감 환자 데이터 질의, 내부 인사/재무 데이터 분석, 원내 비공개 지침 해석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강점: 병원 폐쇄망 내 자체 서빙으로 네트워크 단절 환경에서도 100% 독립 가동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보안성: 환자 진료기록 및 거점공공병원 내부 기밀자료 외부 전송 0% 완벽 보장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3. [하이브리드 라우팅 게이트웨이 (Hybrid Router)]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민감도 자동 분류기(PII Detector)가 입력 프롬프트를 실시간 사전 스캔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민감정보 감지 시 즉시 온프레미스 sLLM으로 라우팅, 일반 통계는 Cloud Gemini로 분기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7488" y="1371600"/>
            <a:ext cx="4462272" cy="320040"/>
          </a:xfrm>
          <a:prstGeom prst="rect">
            <a:avLst/>
          </a:prstGeom>
          <a:solidFill>
            <a:srgbClr val="1E3A8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KoPub돋움체 Bold"/>
                <a:ea typeface="KoPub돋움체 Bold"/>
              </a:rPr>
              <a:t>B. 환각 제로 검증 및 보안 거버넌스 파이프라인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7488" y="1691640"/>
            <a:ext cx="4462272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1. [환각 제로(Zero Hallucination) 3중 신뢰 검증망]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1차: Grounding Verifier (1,000쪽 분량 보건의료 법령·지침 원문 1:1 근거 대조)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2차: 14대 회계산출식 룰베이스 수학적 검증 엔진 (수치 변조 및 환각 원천 차단)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3차: KOSIS·HIRA 공인 공공데이터베이스 검증 쿼리 교차 확인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2. [개인식별정보(PII) 실시간 비식별화 파이프라인]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주민등록번호(RRN), 외국인등록번호 13자리 정규식 탐지 및 즉시 마스킹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환자 고유 등록번호, 휴대전화번호, 상세 거주지 주소 비식별화 처리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공시 보고서 업로드 및 사업계획서 생성 시 자동 마스킹 필터 상시 가동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3. [시스템 접근제어 및 인프라 보안]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관리자 인가 보안 로그인 및 HttpOnly 세션 쿠키 보호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무차별 대입 공격(Brute-force) 방지를 위한 5회 연속 로그인 실패 시 계정 잠금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0F172A"/>
                </a:solidFill>
                <a:latin typeface="KoPub돋움체 Medium"/>
                <a:ea typeface="KoPub돋움체 Medium"/>
              </a:rPr>
              <a:t>• 모든 공공데이터 OpenAPI 인증키의 서버단 환경변수(Env) 암호화 격리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디자인 사용자 지정">
  <a:themeElements>
    <a:clrScheme name="따뜻한 파란색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사용자 지정 3">
      <a:majorFont>
        <a:latin typeface="KoPub돋움체 Bold"/>
        <a:ea typeface="KoPub돋움체 Bold"/>
        <a:cs typeface=""/>
      </a:majorFont>
      <a:minorFont>
        <a:latin typeface="KoPub돋움체 Medium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374D81"/>
        </a:solidFill>
        <a:ln w="9525">
          <a:noFill/>
          <a:miter lim="800000"/>
          <a:headEnd/>
          <a:tailEnd/>
        </a:ln>
      </a:spPr>
      <a:bodyPr wrap="none" anchor="ctr"/>
      <a:lstStyle>
        <a:defPPr algn="l">
          <a:defRPr dirty="0">
            <a:solidFill>
              <a:srgbClr val="000000"/>
            </a:solidFill>
            <a:latin typeface="+mn-ea"/>
            <a:ea typeface="+mn-ea"/>
          </a:defRPr>
        </a:defPPr>
      </a:lstStyle>
    </a:spDef>
    <a:lnDef>
      <a:spPr>
        <a:noFill/>
        <a:ln w="9525">
          <a:solidFill>
            <a:schemeClr val="tx1">
              <a:lumMod val="50000"/>
              <a:lumOff val="50000"/>
            </a:schemeClr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130072</TotalTime>
  <Words>941</Words>
  <Application>Microsoft Office PowerPoint</Application>
  <PresentationFormat>A4 용지(210x297mm)</PresentationFormat>
  <Paragraphs>150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</vt:i4>
      </vt:variant>
    </vt:vector>
  </HeadingPairs>
  <TitlesOfParts>
    <vt:vector size="16" baseType="lpstr">
      <vt:lpstr>KoPub돋움체 Bold</vt:lpstr>
      <vt:lpstr>KoPub돋움체 Medium</vt:lpstr>
      <vt:lpstr>KoPub바탕체 Bold</vt:lpstr>
      <vt:lpstr>굴림</vt:lpstr>
      <vt:lpstr>나눔고딕 ExtraBold</vt:lpstr>
      <vt:lpstr>맑은 고딕</vt:lpstr>
      <vt:lpstr>Arial</vt:lpstr>
      <vt:lpstr>Tahoma</vt:lpstr>
      <vt:lpstr>Times New Roman</vt:lpstr>
      <vt:lpstr>Wingdings</vt:lpstr>
      <vt:lpstr>4_디자인 사용자 지정</vt:lpstr>
      <vt:lpstr>디자인 사용자 지정</vt:lpstr>
      <vt:lpstr>3.4.1 개요</vt:lpstr>
      <vt:lpstr>3.4.2 시스템 기능 구성도</vt:lpstr>
      <vt:lpstr>3.4.3 기능정의서</vt:lpstr>
      <vt:lpstr>3.4.4 주요 현황 및 문제점</vt:lpstr>
    </vt:vector>
  </TitlesOfParts>
  <Company>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AMR Sales Pack</dc:title>
  <dc:creator>오만석</dc:creator>
  <cp:lastModifiedBy>soohyun9953@gmail.com</cp:lastModifiedBy>
  <cp:revision>5147</cp:revision>
  <cp:lastPrinted>2023-11-09T11:57:47Z</cp:lastPrinted>
  <dcterms:created xsi:type="dcterms:W3CDTF">2004-03-15T02:50:46Z</dcterms:created>
  <dcterms:modified xsi:type="dcterms:W3CDTF">2026-08-24T01:18:43Z</dcterms:modified>
</cp:coreProperties>
</file>